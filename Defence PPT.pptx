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Noto Serif Display Semi-Bold Italics" charset="1" panose="02020702080505090204"/>
      <p:regular r:id="rId28"/>
    </p:embeddedFont>
    <p:embeddedFont>
      <p:font typeface="Public Sans" charset="1" panose="00000000000000000000"/>
      <p:regular r:id="rId29"/>
    </p:embeddedFont>
    <p:embeddedFont>
      <p:font typeface="Public Sans Bold" charset="1" panose="00000000000000000000"/>
      <p:regular r:id="rId30"/>
    </p:embeddedFont>
    <p:embeddedFont>
      <p:font typeface="Canva Sans" charset="1" panose="020B0503030501040103"/>
      <p:regular r:id="rId31"/>
    </p:embeddedFont>
    <p:embeddedFont>
      <p:font typeface="Noto Serif Display Italics" charset="1" panose="02020502080505090204"/>
      <p:regular r:id="rId32"/>
    </p:embeddedFont>
    <p:embeddedFont>
      <p:font typeface="Noto Serif Display Bold Italics" charset="1" panose="02020802080505090204"/>
      <p:regular r:id="rId33"/>
    </p:embeddedFont>
    <p:embeddedFont>
      <p:font typeface="Arimo Bold" charset="1" panose="020B0704020202020204"/>
      <p:regular r:id="rId42"/>
    </p:embeddedFont>
    <p:embeddedFont>
      <p:font typeface="Arimo" charset="1" panose="020B0604020202020204"/>
      <p:regular r:id="rId43"/>
    </p:embeddedFont>
    <p:embeddedFont>
      <p:font typeface="Public Sans Bold Italics" charset="1" panose="00000000000000000000"/>
      <p:regular r:id="rId44"/>
    </p:embeddedFont>
    <p:embeddedFont>
      <p:font typeface="Public Sans Italics" charset="1" panose="000000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Masters/notesMaster1.xml" Type="http://schemas.openxmlformats.org/officeDocument/2006/relationships/notesMaster"/><Relationship Id="rId35" Target="theme/theme2.xml" Type="http://schemas.openxmlformats.org/officeDocument/2006/relationships/theme"/><Relationship Id="rId36" Target="notesSlides/notesSlide1.xml" Type="http://schemas.openxmlformats.org/officeDocument/2006/relationships/notesSlide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1: Research Taxonomy</a:t>
            </a:r>
          </a:p>
          <a:p>
            <a:r>
              <a:rPr lang="en-US"/>
              <a:t/>
            </a:r>
          </a:p>
          <a:p>
            <a:r>
              <a:rPr lang="en-US"/>
              <a:t>*"Our research focuses on RA flare prediction.</a:t>
            </a:r>
          </a:p>
          <a:p>
            <a:r>
              <a:rPr lang="en-US"/>
              <a:t>From the literature, we mapped out four main directions.</a:t>
            </a:r>
          </a:p>
          <a:p>
            <a:r>
              <a:rPr lang="en-US"/>
              <a:t>First, range of motion using computer vision.</a:t>
            </a:r>
          </a:p>
          <a:p>
            <a:r>
              <a:rPr lang="en-US"/>
              <a:t>Second, mobile health apps for lifestyle and self-management.</a:t>
            </a:r>
          </a:p>
          <a:p>
            <a:r>
              <a:rPr lang="en-US"/>
              <a:t>Third, weather and time-series data — which is also a dataset we might use.</a:t>
            </a:r>
          </a:p>
          <a:p>
            <a:r>
              <a:rPr lang="en-US"/>
              <a:t>And finally, studies on quality of life and clinical integration.</a:t>
            </a:r>
          </a:p>
          <a:p>
            <a:r>
              <a:rPr lang="en-US"/>
              <a:t/>
            </a:r>
          </a:p>
          <a:p>
            <a:r>
              <a:rPr lang="en-US"/>
              <a:t>This taxonomy shows us the overall picture, and helps us see where different approaches fit."*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“From here, we selected key studies from each category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"When we reviewed the existing work, we noticed four key areas.</a:t>
            </a:r>
          </a:p>
          <a:p>
            <a:r>
              <a:rPr lang="en-US"/>
              <a:t/>
            </a:r>
          </a:p>
          <a:p>
            <a:r>
              <a:rPr lang="en-US"/>
              <a:t>First — Lifestyle tracking apps like HIBOOT+.</a:t>
            </a:r>
          </a:p>
          <a:p>
            <a:r>
              <a:rPr lang="en-US"/>
              <a:t>Their strength is that they allow patients to log symptoms, medications, and activity in real life. But the limitation is that they stop at tracking — there’s no prediction or proactive support.</a:t>
            </a:r>
          </a:p>
          <a:p>
            <a:r>
              <a:rPr lang="en-US"/>
              <a:t/>
            </a:r>
          </a:p>
          <a:p>
            <a:r>
              <a:rPr lang="en-US"/>
              <a:t>Second — Weather-based studies, such as Cloudy with a Chance of Pain.</a:t>
            </a:r>
          </a:p>
          <a:p>
            <a:r>
              <a:rPr lang="en-US"/>
              <a:t>Their strength was scale — it was one of the largest studies linking weather to pain. But the weakness is that it only showed correlation, without a predictive framework.</a:t>
            </a:r>
          </a:p>
          <a:p>
            <a:r>
              <a:rPr lang="en-US"/>
              <a:t/>
            </a:r>
          </a:p>
          <a:p>
            <a:r>
              <a:rPr lang="en-US"/>
              <a:t>Third — Biomechanics, especially pose estimation.</a:t>
            </a:r>
          </a:p>
          <a:p>
            <a:r>
              <a:rPr lang="en-US"/>
              <a:t>Here, the strength is accuracy: joint movements can be tracked with precision. But the gap is that these were small studies, and they never connected movement data to flare prediction.</a:t>
            </a:r>
          </a:p>
          <a:p>
            <a:r>
              <a:rPr lang="en-US"/>
              <a:t/>
            </a:r>
          </a:p>
          <a:p>
            <a:r>
              <a:rPr lang="en-US"/>
              <a:t>And fourth — Machine learning models.</a:t>
            </a:r>
          </a:p>
          <a:p>
            <a:r>
              <a:rPr lang="en-US"/>
              <a:t>The strength is clear: they showed prediction is possible. But the weakness is that they relied mainly on self-reports, which limited accuracy and generalizability.</a:t>
            </a:r>
          </a:p>
          <a:p>
            <a:r>
              <a:rPr lang="en-US"/>
              <a:t/>
            </a:r>
          </a:p>
          <a:p>
            <a:r>
              <a:rPr lang="en-US"/>
              <a:t>👉 So overall, while each of these approaches added important value, the weaknesses stand out. And it’s exactly these gaps that motivated us to design a more multimodal, predictive platform."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"As you can see here, several gaps emerge across the literature — from over-reliance on self-reports, to lack of multi-factor integration, weak predictive power, and minimal clinical or patient support."</a:t>
            </a:r>
          </a:p>
          <a:p>
            <a:r>
              <a:rPr lang="en-US"/>
              <a:t/>
            </a:r>
          </a:p>
          <a:p>
            <a:r>
              <a:rPr lang="en-US"/>
              <a:t>👉 Transition:</a:t>
            </a:r>
          </a:p>
          <a:p>
            <a:r>
              <a:rPr lang="en-US"/>
              <a:t>"These gaps bring us to the core problem we’re addressing."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*"In short, current RA flare prediction methods are fragmented.</a:t>
            </a:r>
          </a:p>
          <a:p>
            <a:r>
              <a:rPr lang="en-US"/>
              <a:t>They depend too much on subjective data.</a:t>
            </a:r>
          </a:p>
          <a:p>
            <a:r>
              <a:rPr lang="en-US"/>
              <a:t>They fail to bring together the multiple factors that actually drive flares.</a:t>
            </a:r>
          </a:p>
          <a:p>
            <a:r>
              <a:rPr lang="en-US"/>
              <a:t>And they provide little value for patients or doctors.</a:t>
            </a:r>
          </a:p>
          <a:p>
            <a:r>
              <a:rPr lang="en-US"/>
              <a:t/>
            </a:r>
          </a:p>
          <a:p>
            <a:r>
              <a:rPr lang="en-US"/>
              <a:t>This makes them less reliable, less actionable, and less useful in real-world care."*</a:t>
            </a:r>
          </a:p>
          <a:p>
            <a:r>
              <a:rPr lang="en-US"/>
              <a:t/>
            </a:r>
          </a:p>
          <a:p>
            <a:r>
              <a:rPr lang="en-US"/>
              <a:t>“This problem statement naturally leads to some key research questions — which my teammate, Mr. Hamza, will now share with you.”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"When we reviewed the existing work, we noticed four key areas.</a:t>
            </a:r>
          </a:p>
          <a:p>
            <a:r>
              <a:rPr lang="en-US"/>
              <a:t/>
            </a:r>
          </a:p>
          <a:p>
            <a:r>
              <a:rPr lang="en-US"/>
              <a:t>First — Lifestyle tracking apps like HIBOOT+.</a:t>
            </a:r>
          </a:p>
          <a:p>
            <a:r>
              <a:rPr lang="en-US"/>
              <a:t>Their strength is that they allow patients to log symptoms, medications, and activity in real life. But the limitation is that they stop at tracking — there’s no prediction or proactive support.</a:t>
            </a:r>
          </a:p>
          <a:p>
            <a:r>
              <a:rPr lang="en-US"/>
              <a:t/>
            </a:r>
          </a:p>
          <a:p>
            <a:r>
              <a:rPr lang="en-US"/>
              <a:t>Second — Weather-based studies, such as Cloudy with a Chance of Pain.</a:t>
            </a:r>
          </a:p>
          <a:p>
            <a:r>
              <a:rPr lang="en-US"/>
              <a:t>Their strength was scale — it was one of the largest studies linking weather to pain. But the weakness is that it only showed correlation, without a predictive framework.</a:t>
            </a:r>
          </a:p>
          <a:p>
            <a:r>
              <a:rPr lang="en-US"/>
              <a:t/>
            </a:r>
          </a:p>
          <a:p>
            <a:r>
              <a:rPr lang="en-US"/>
              <a:t>Third — Biomechanics, especially pose estimation.</a:t>
            </a:r>
          </a:p>
          <a:p>
            <a:r>
              <a:rPr lang="en-US"/>
              <a:t>Here, the strength is accuracy: joint movements can be tracked with precision. But the gap is that these were small studies, and they never connected movement data to flare prediction.</a:t>
            </a:r>
          </a:p>
          <a:p>
            <a:r>
              <a:rPr lang="en-US"/>
              <a:t/>
            </a:r>
          </a:p>
          <a:p>
            <a:r>
              <a:rPr lang="en-US"/>
              <a:t>And fourth — Machine learning models.</a:t>
            </a:r>
          </a:p>
          <a:p>
            <a:r>
              <a:rPr lang="en-US"/>
              <a:t>The strength is clear: they showed prediction is possible. But the weakness is that they relied mainly on self-reports, which limited accuracy and generalizability.</a:t>
            </a:r>
          </a:p>
          <a:p>
            <a:r>
              <a:rPr lang="en-US"/>
              <a:t/>
            </a:r>
          </a:p>
          <a:p>
            <a:r>
              <a:rPr lang="en-US"/>
              <a:t>👉 So overall, while each of these approaches added important value, the weaknesses stand out. And it’s exactly these gaps that motivated us to design a more multimodal, predictive platform."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"When we reviewed the existing work, we noticed four key areas.</a:t>
            </a:r>
          </a:p>
          <a:p>
            <a:r>
              <a:rPr lang="en-US"/>
              <a:t/>
            </a:r>
          </a:p>
          <a:p>
            <a:r>
              <a:rPr lang="en-US"/>
              <a:t>First — Lifestyle tracking apps like HIBOOT+.</a:t>
            </a:r>
          </a:p>
          <a:p>
            <a:r>
              <a:rPr lang="en-US"/>
              <a:t>Their strength is that they allow patients to log symptoms, medications, and activity in real life. But the limitation is that they stop at tracking — there’s no prediction or proactive support.</a:t>
            </a:r>
          </a:p>
          <a:p>
            <a:r>
              <a:rPr lang="en-US"/>
              <a:t/>
            </a:r>
          </a:p>
          <a:p>
            <a:r>
              <a:rPr lang="en-US"/>
              <a:t>Second — Weather-based studies, such as Cloudy with a Chance of Pain.</a:t>
            </a:r>
          </a:p>
          <a:p>
            <a:r>
              <a:rPr lang="en-US"/>
              <a:t>Their strength was scale — it was one of the largest studies linking weather to pain. But the weakness is that it only showed correlation, without a predictive framework.</a:t>
            </a:r>
          </a:p>
          <a:p>
            <a:r>
              <a:rPr lang="en-US"/>
              <a:t/>
            </a:r>
          </a:p>
          <a:p>
            <a:r>
              <a:rPr lang="en-US"/>
              <a:t>Third — Biomechanics, especially pose estimation.</a:t>
            </a:r>
          </a:p>
          <a:p>
            <a:r>
              <a:rPr lang="en-US"/>
              <a:t>Here, the strength is accuracy: joint movements can be tracked with precision. But the gap is that these were small studies, and they never connected movement data to flare prediction.</a:t>
            </a:r>
          </a:p>
          <a:p>
            <a:r>
              <a:rPr lang="en-US"/>
              <a:t/>
            </a:r>
          </a:p>
          <a:p>
            <a:r>
              <a:rPr lang="en-US"/>
              <a:t>And fourth — Machine learning models.</a:t>
            </a:r>
          </a:p>
          <a:p>
            <a:r>
              <a:rPr lang="en-US"/>
              <a:t>The strength is clear: they showed prediction is possible. But the weakness is that they relied mainly on self-reports, which limited accuracy and generalizability.</a:t>
            </a:r>
          </a:p>
          <a:p>
            <a:r>
              <a:rPr lang="en-US"/>
              <a:t/>
            </a:r>
          </a:p>
          <a:p>
            <a:r>
              <a:rPr lang="en-US"/>
              <a:t>👉 So overall, while each of these approaches added important value, the weaknesses stand out. And it’s exactly these gaps that motivated us to design a more multimodal, predictive platform."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1.pn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311574" y="3395944"/>
            <a:ext cx="9664852" cy="207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9"/>
              </a:lnSpc>
            </a:pPr>
            <a:r>
              <a:rPr lang="en-US" b="true" sz="14499" i="true" spc="-710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ArthoCare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22482" y="8247181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Collaborator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48505" y="8743950"/>
            <a:ext cx="5710795" cy="103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Physiotherapy Dept., GIMES</a:t>
            </a:r>
          </a:p>
          <a:p>
            <a:pPr algn="r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424958"/>
            <a:ext cx="8343052" cy="103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Umema Ashar DS, Hamza Asad DS, Heer CS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60396" y="5608958"/>
            <a:ext cx="13767208" cy="115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Multimodal Flare Prediction and Self-Management Platform for </a:t>
            </a:r>
          </a:p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                                             Rheumatoid Arthritis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910695"/>
            <a:ext cx="5036818" cy="5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Dr. Faisal Cheema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48505" y="962025"/>
            <a:ext cx="5710795" cy="5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F25-082-R-ArthoCare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06749" y="2189997"/>
            <a:ext cx="2668284" cy="7068303"/>
          </a:xfrm>
          <a:custGeom>
            <a:avLst/>
            <a:gdLst/>
            <a:ahLst/>
            <a:cxnLst/>
            <a:rect r="r" b="b" t="t" l="l"/>
            <a:pathLst>
              <a:path h="7068303" w="2668284">
                <a:moveTo>
                  <a:pt x="0" y="0"/>
                </a:moveTo>
                <a:lnTo>
                  <a:pt x="2668284" y="0"/>
                </a:lnTo>
                <a:lnTo>
                  <a:pt x="2668284" y="7068303"/>
                </a:lnTo>
                <a:lnTo>
                  <a:pt x="0" y="7068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5406" y="3663039"/>
            <a:ext cx="8562068" cy="320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7"/>
              </a:lnSpc>
            </a:pPr>
            <a:r>
              <a:rPr lang="en-US" sz="12451" i="true" spc="-610">
                <a:solidFill>
                  <a:srgbClr val="333333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Rheumatoid</a:t>
            </a:r>
          </a:p>
          <a:p>
            <a:pPr algn="l">
              <a:lnSpc>
                <a:spcPts val="12327"/>
              </a:lnSpc>
            </a:pPr>
            <a:r>
              <a:rPr lang="en-US" b="true" sz="12451" i="true" spc="-610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Arthritis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68077"/>
            <a:ext cx="16230600" cy="122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b="true" sz="8100" i="true" spc="-39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Why Flare Prediction Matters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17907"/>
            <a:ext cx="16230600" cy="284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Unpredictable flare-ups</a:t>
            </a:r>
          </a:p>
          <a:p>
            <a:pPr algn="just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31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educed quality of life</a:t>
            </a:r>
          </a:p>
          <a:p>
            <a:pPr algn="just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31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pisodic doctor visits</a:t>
            </a:r>
          </a:p>
          <a:p>
            <a:pPr algn="just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Patient need: continuous, personalized, real-time management</a:t>
            </a:r>
          </a:p>
          <a:p>
            <a:pPr algn="just">
              <a:lnSpc>
                <a:spcPts val="489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77865"/>
            <a:ext cx="11293394" cy="15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The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766953"/>
            <a:ext cx="4812313" cy="119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RA affects s nearly 20 million people affected globally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(Source: Medical News Today)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7843" y="6766953"/>
            <a:ext cx="4812313" cy="159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RA patients are twice as likely to leave work within 10 years of diagnosis </a:t>
            </a: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(Source: Rheumatology systematic review)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5507" y="6766953"/>
            <a:ext cx="4812313" cy="159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Flares affect 70–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80% of patients, leading to reduced mobility and QoL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(Source: Medical News Today)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90568"/>
            <a:ext cx="4812313" cy="162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9"/>
              </a:lnSpc>
            </a:pPr>
            <a:r>
              <a:rPr lang="en-US" b="true" sz="10699" i="true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20M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7843" y="5090568"/>
            <a:ext cx="4812313" cy="162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9"/>
              </a:lnSpc>
            </a:pPr>
            <a:r>
              <a:rPr lang="en-US" b="true" sz="10699" i="true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2x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45507" y="5090568"/>
            <a:ext cx="4812313" cy="162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9"/>
              </a:lnSpc>
            </a:pPr>
            <a:r>
              <a:rPr lang="en-US" b="true" sz="10699" i="true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80%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172575" y="4966938"/>
            <a:ext cx="0" cy="402863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009526" y="5369802"/>
            <a:ext cx="829752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3285618" y="5369802"/>
            <a:ext cx="0" cy="105886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5016670" y="5369802"/>
            <a:ext cx="0" cy="105886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42988" y="7158266"/>
            <a:ext cx="3691186" cy="1571816"/>
            <a:chOff x="0" y="0"/>
            <a:chExt cx="3153125" cy="1342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53125" cy="1342694"/>
            </a:xfrm>
            <a:custGeom>
              <a:avLst/>
              <a:gdLst/>
              <a:ahLst/>
              <a:cxnLst/>
              <a:rect r="r" b="b" t="t" l="l"/>
              <a:pathLst>
                <a:path h="1342694" w="3153125">
                  <a:moveTo>
                    <a:pt x="3028665" y="1342694"/>
                  </a:moveTo>
                  <a:lnTo>
                    <a:pt x="124460" y="1342694"/>
                  </a:lnTo>
                  <a:cubicBezTo>
                    <a:pt x="55880" y="1342694"/>
                    <a:pt x="0" y="1286814"/>
                    <a:pt x="0" y="12182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1218234"/>
                  </a:lnTo>
                  <a:cubicBezTo>
                    <a:pt x="3153125" y="1286814"/>
                    <a:pt x="3097245" y="1342694"/>
                    <a:pt x="3028665" y="134269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99166" y="7158266"/>
            <a:ext cx="3691186" cy="1571816"/>
            <a:chOff x="0" y="0"/>
            <a:chExt cx="3153125" cy="13426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53125" cy="1342694"/>
            </a:xfrm>
            <a:custGeom>
              <a:avLst/>
              <a:gdLst/>
              <a:ahLst/>
              <a:cxnLst/>
              <a:rect r="r" b="b" t="t" l="l"/>
              <a:pathLst>
                <a:path h="1342694" w="3153125">
                  <a:moveTo>
                    <a:pt x="3028665" y="1342694"/>
                  </a:moveTo>
                  <a:lnTo>
                    <a:pt x="124460" y="1342694"/>
                  </a:lnTo>
                  <a:cubicBezTo>
                    <a:pt x="55880" y="1342694"/>
                    <a:pt x="0" y="1286814"/>
                    <a:pt x="0" y="12182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1218234"/>
                  </a:lnTo>
                  <a:cubicBezTo>
                    <a:pt x="3153125" y="1286814"/>
                    <a:pt x="3097245" y="1342694"/>
                    <a:pt x="3028665" y="134269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3548" y="7563205"/>
            <a:ext cx="3350064" cy="7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Joint Range of Motion via Computer Vision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69727" y="7377483"/>
            <a:ext cx="3350064" cy="11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Mobile Health Apps and Personalized Recommendations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99166" y="8862954"/>
            <a:ext cx="3691186" cy="577460"/>
            <a:chOff x="0" y="0"/>
            <a:chExt cx="4921581" cy="76994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921581" cy="769946"/>
              <a:chOff x="0" y="0"/>
              <a:chExt cx="6503969" cy="1017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503969" cy="1017500"/>
              </a:xfrm>
              <a:custGeom>
                <a:avLst/>
                <a:gdLst/>
                <a:ahLst/>
                <a:cxnLst/>
                <a:rect r="r" b="b" t="t" l="l"/>
                <a:pathLst>
                  <a:path h="1017500" w="6503969">
                    <a:moveTo>
                      <a:pt x="6379509" y="59690"/>
                    </a:moveTo>
                    <a:cubicBezTo>
                      <a:pt x="6415069" y="59690"/>
                      <a:pt x="6444279" y="88900"/>
                      <a:pt x="6444279" y="124460"/>
                    </a:cubicBezTo>
                    <a:lnTo>
                      <a:pt x="6444279" y="893040"/>
                    </a:lnTo>
                    <a:cubicBezTo>
                      <a:pt x="6444279" y="928600"/>
                      <a:pt x="6415069" y="957810"/>
                      <a:pt x="6379509" y="957810"/>
                    </a:cubicBezTo>
                    <a:lnTo>
                      <a:pt x="124460" y="957810"/>
                    </a:lnTo>
                    <a:cubicBezTo>
                      <a:pt x="88900" y="957810"/>
                      <a:pt x="59690" y="928600"/>
                      <a:pt x="59690" y="8930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6379509" y="59690"/>
                    </a:lnTo>
                    <a:moveTo>
                      <a:pt x="6379509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893040"/>
                    </a:lnTo>
                    <a:cubicBezTo>
                      <a:pt x="0" y="961620"/>
                      <a:pt x="55880" y="1017500"/>
                      <a:pt x="124460" y="1017500"/>
                    </a:cubicBezTo>
                    <a:lnTo>
                      <a:pt x="6379509" y="1017500"/>
                    </a:lnTo>
                    <a:cubicBezTo>
                      <a:pt x="6448089" y="1017500"/>
                      <a:pt x="6503969" y="961620"/>
                      <a:pt x="6503969" y="893040"/>
                    </a:cubicBezTo>
                    <a:lnTo>
                      <a:pt x="6503969" y="124460"/>
                    </a:lnTo>
                    <a:cubicBezTo>
                      <a:pt x="6503969" y="55880"/>
                      <a:pt x="6448089" y="0"/>
                      <a:pt x="6379509" y="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27414" y="143673"/>
              <a:ext cx="4466753" cy="4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5 PAPERS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26982" y="3359008"/>
            <a:ext cx="3691186" cy="1001428"/>
            <a:chOff x="0" y="0"/>
            <a:chExt cx="3153125" cy="8554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53125" cy="855451"/>
            </a:xfrm>
            <a:custGeom>
              <a:avLst/>
              <a:gdLst/>
              <a:ahLst/>
              <a:cxnLst/>
              <a:rect r="r" b="b" t="t" l="l"/>
              <a:pathLst>
                <a:path h="855451" w="3153125">
                  <a:moveTo>
                    <a:pt x="3028665" y="855451"/>
                  </a:moveTo>
                  <a:lnTo>
                    <a:pt x="124460" y="855451"/>
                  </a:lnTo>
                  <a:cubicBezTo>
                    <a:pt x="55880" y="855451"/>
                    <a:pt x="0" y="799571"/>
                    <a:pt x="0" y="7309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730991"/>
                  </a:lnTo>
                  <a:cubicBezTo>
                    <a:pt x="3153125" y="799571"/>
                    <a:pt x="3097245" y="855451"/>
                    <a:pt x="3028665" y="85545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497543" y="3664475"/>
            <a:ext cx="3350064" cy="41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b="true" sz="26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Flare Prediction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326982" y="4419297"/>
            <a:ext cx="3691186" cy="577460"/>
            <a:chOff x="0" y="0"/>
            <a:chExt cx="6503969" cy="1017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03969" cy="1017500"/>
            </a:xfrm>
            <a:custGeom>
              <a:avLst/>
              <a:gdLst/>
              <a:ahLst/>
              <a:cxnLst/>
              <a:rect r="r" b="b" t="t" l="l"/>
              <a:pathLst>
                <a:path h="1017500" w="6503969">
                  <a:moveTo>
                    <a:pt x="6379509" y="59690"/>
                  </a:moveTo>
                  <a:cubicBezTo>
                    <a:pt x="6415069" y="59690"/>
                    <a:pt x="6444279" y="88900"/>
                    <a:pt x="6444279" y="124460"/>
                  </a:cubicBezTo>
                  <a:lnTo>
                    <a:pt x="6444279" y="893040"/>
                  </a:lnTo>
                  <a:cubicBezTo>
                    <a:pt x="6444279" y="928600"/>
                    <a:pt x="6415069" y="957810"/>
                    <a:pt x="6379509" y="957810"/>
                  </a:cubicBezTo>
                  <a:lnTo>
                    <a:pt x="124460" y="957810"/>
                  </a:lnTo>
                  <a:cubicBezTo>
                    <a:pt x="88900" y="957810"/>
                    <a:pt x="59690" y="928600"/>
                    <a:pt x="59690" y="8930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379509" y="59690"/>
                  </a:lnTo>
                  <a:moveTo>
                    <a:pt x="63795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3040"/>
                  </a:lnTo>
                  <a:cubicBezTo>
                    <a:pt x="0" y="961620"/>
                    <a:pt x="55880" y="1017500"/>
                    <a:pt x="124460" y="1017500"/>
                  </a:cubicBezTo>
                  <a:lnTo>
                    <a:pt x="6379509" y="1017500"/>
                  </a:lnTo>
                  <a:cubicBezTo>
                    <a:pt x="6448089" y="1017500"/>
                    <a:pt x="6503969" y="961620"/>
                    <a:pt x="6503969" y="893040"/>
                  </a:cubicBezTo>
                  <a:lnTo>
                    <a:pt x="6503969" y="124460"/>
                  </a:lnTo>
                  <a:cubicBezTo>
                    <a:pt x="6503969" y="55880"/>
                    <a:pt x="6448089" y="0"/>
                    <a:pt x="6379509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497543" y="4522290"/>
            <a:ext cx="3350064" cy="35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5 PAPERS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2874293" y="6428661"/>
            <a:ext cx="428475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157529" y="6442949"/>
            <a:ext cx="428475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2874293" y="6425848"/>
            <a:ext cx="0" cy="732418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1171816" y="6442949"/>
            <a:ext cx="0" cy="71813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7144759" y="6428661"/>
            <a:ext cx="0" cy="746705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15427995" y="6442949"/>
            <a:ext cx="0" cy="732418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326223" y="7158266"/>
            <a:ext cx="3691186" cy="1571816"/>
            <a:chOff x="0" y="0"/>
            <a:chExt cx="3153125" cy="13426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53125" cy="1342694"/>
            </a:xfrm>
            <a:custGeom>
              <a:avLst/>
              <a:gdLst/>
              <a:ahLst/>
              <a:cxnLst/>
              <a:rect r="r" b="b" t="t" l="l"/>
              <a:pathLst>
                <a:path h="1342694" w="3153125">
                  <a:moveTo>
                    <a:pt x="3028665" y="1342694"/>
                  </a:moveTo>
                  <a:lnTo>
                    <a:pt x="124460" y="1342694"/>
                  </a:lnTo>
                  <a:cubicBezTo>
                    <a:pt x="55880" y="1342694"/>
                    <a:pt x="0" y="1286814"/>
                    <a:pt x="0" y="12182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1218234"/>
                  </a:lnTo>
                  <a:cubicBezTo>
                    <a:pt x="3153125" y="1286814"/>
                    <a:pt x="3097245" y="1342694"/>
                    <a:pt x="3028665" y="134269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582402" y="7158266"/>
            <a:ext cx="3691186" cy="1571816"/>
            <a:chOff x="0" y="0"/>
            <a:chExt cx="3153125" cy="13426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53125" cy="1342694"/>
            </a:xfrm>
            <a:custGeom>
              <a:avLst/>
              <a:gdLst/>
              <a:ahLst/>
              <a:cxnLst/>
              <a:rect r="r" b="b" t="t" l="l"/>
              <a:pathLst>
                <a:path h="1342694" w="3153125">
                  <a:moveTo>
                    <a:pt x="3028665" y="1342694"/>
                  </a:moveTo>
                  <a:lnTo>
                    <a:pt x="124460" y="1342694"/>
                  </a:lnTo>
                  <a:cubicBezTo>
                    <a:pt x="55880" y="1342694"/>
                    <a:pt x="0" y="1286814"/>
                    <a:pt x="0" y="12182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28665" y="0"/>
                  </a:lnTo>
                  <a:cubicBezTo>
                    <a:pt x="3097245" y="0"/>
                    <a:pt x="3153125" y="55880"/>
                    <a:pt x="3153125" y="124460"/>
                  </a:cubicBezTo>
                  <a:lnTo>
                    <a:pt x="3153125" y="1218234"/>
                  </a:lnTo>
                  <a:cubicBezTo>
                    <a:pt x="3153125" y="1286814"/>
                    <a:pt x="3097245" y="1342694"/>
                    <a:pt x="3028665" y="134269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82496" y="7377483"/>
            <a:ext cx="3350064" cy="112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Association Between Weather and Chronic Pain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52962" y="7563205"/>
            <a:ext cx="3350064" cy="7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QoL &amp; Clinical Integration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82402" y="8862954"/>
            <a:ext cx="3691186" cy="577460"/>
            <a:chOff x="0" y="0"/>
            <a:chExt cx="4921581" cy="769946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4921581" cy="769946"/>
              <a:chOff x="0" y="0"/>
              <a:chExt cx="6503969" cy="1017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503969" cy="1017500"/>
              </a:xfrm>
              <a:custGeom>
                <a:avLst/>
                <a:gdLst/>
                <a:ahLst/>
                <a:cxnLst/>
                <a:rect r="r" b="b" t="t" l="l"/>
                <a:pathLst>
                  <a:path h="1017500" w="6503969">
                    <a:moveTo>
                      <a:pt x="6379509" y="59690"/>
                    </a:moveTo>
                    <a:cubicBezTo>
                      <a:pt x="6415069" y="59690"/>
                      <a:pt x="6444279" y="88900"/>
                      <a:pt x="6444279" y="124460"/>
                    </a:cubicBezTo>
                    <a:lnTo>
                      <a:pt x="6444279" y="893040"/>
                    </a:lnTo>
                    <a:cubicBezTo>
                      <a:pt x="6444279" y="928600"/>
                      <a:pt x="6415069" y="957810"/>
                      <a:pt x="6379509" y="957810"/>
                    </a:cubicBezTo>
                    <a:lnTo>
                      <a:pt x="124460" y="957810"/>
                    </a:lnTo>
                    <a:cubicBezTo>
                      <a:pt x="88900" y="957810"/>
                      <a:pt x="59690" y="928600"/>
                      <a:pt x="59690" y="8930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6379509" y="59690"/>
                    </a:lnTo>
                    <a:moveTo>
                      <a:pt x="6379509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893040"/>
                    </a:lnTo>
                    <a:cubicBezTo>
                      <a:pt x="0" y="961620"/>
                      <a:pt x="55880" y="1017500"/>
                      <a:pt x="124460" y="1017500"/>
                    </a:cubicBezTo>
                    <a:lnTo>
                      <a:pt x="6379509" y="1017500"/>
                    </a:lnTo>
                    <a:cubicBezTo>
                      <a:pt x="6448089" y="1017500"/>
                      <a:pt x="6503969" y="961620"/>
                      <a:pt x="6503969" y="893040"/>
                    </a:cubicBezTo>
                    <a:lnTo>
                      <a:pt x="6503969" y="124460"/>
                    </a:lnTo>
                    <a:cubicBezTo>
                      <a:pt x="6503969" y="55880"/>
                      <a:pt x="6448089" y="0"/>
                      <a:pt x="6379509" y="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227414" y="143673"/>
              <a:ext cx="4466753" cy="4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 PAPERS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156789" y="1755775"/>
            <a:ext cx="12002997" cy="121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 i="true" spc="-392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Research Taxonomy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28700" y="8862954"/>
            <a:ext cx="3691186" cy="577460"/>
            <a:chOff x="0" y="0"/>
            <a:chExt cx="4921581" cy="76994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921581" cy="769946"/>
              <a:chOff x="0" y="0"/>
              <a:chExt cx="6503969" cy="10175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503969" cy="1017500"/>
              </a:xfrm>
              <a:custGeom>
                <a:avLst/>
                <a:gdLst/>
                <a:ahLst/>
                <a:cxnLst/>
                <a:rect r="r" b="b" t="t" l="l"/>
                <a:pathLst>
                  <a:path h="1017500" w="6503969">
                    <a:moveTo>
                      <a:pt x="6379509" y="59690"/>
                    </a:moveTo>
                    <a:cubicBezTo>
                      <a:pt x="6415069" y="59690"/>
                      <a:pt x="6444279" y="88900"/>
                      <a:pt x="6444279" y="124460"/>
                    </a:cubicBezTo>
                    <a:lnTo>
                      <a:pt x="6444279" y="893040"/>
                    </a:lnTo>
                    <a:cubicBezTo>
                      <a:pt x="6444279" y="928600"/>
                      <a:pt x="6415069" y="957810"/>
                      <a:pt x="6379509" y="957810"/>
                    </a:cubicBezTo>
                    <a:lnTo>
                      <a:pt x="124460" y="957810"/>
                    </a:lnTo>
                    <a:cubicBezTo>
                      <a:pt x="88900" y="957810"/>
                      <a:pt x="59690" y="928600"/>
                      <a:pt x="59690" y="8930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6379509" y="59690"/>
                    </a:lnTo>
                    <a:moveTo>
                      <a:pt x="6379509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893040"/>
                    </a:lnTo>
                    <a:cubicBezTo>
                      <a:pt x="0" y="961620"/>
                      <a:pt x="55880" y="1017500"/>
                      <a:pt x="124460" y="1017500"/>
                    </a:cubicBezTo>
                    <a:lnTo>
                      <a:pt x="6379509" y="1017500"/>
                    </a:lnTo>
                    <a:cubicBezTo>
                      <a:pt x="6448089" y="1017500"/>
                      <a:pt x="6503969" y="961620"/>
                      <a:pt x="6503969" y="893040"/>
                    </a:cubicBezTo>
                    <a:lnTo>
                      <a:pt x="6503969" y="124460"/>
                    </a:lnTo>
                    <a:cubicBezTo>
                      <a:pt x="6503969" y="55880"/>
                      <a:pt x="6448089" y="0"/>
                      <a:pt x="6379509" y="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227414" y="143673"/>
              <a:ext cx="4466753" cy="4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 PAPERS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1936" y="8862954"/>
            <a:ext cx="3691186" cy="577460"/>
            <a:chOff x="0" y="0"/>
            <a:chExt cx="4921581" cy="769946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4921581" cy="769946"/>
              <a:chOff x="0" y="0"/>
              <a:chExt cx="6503969" cy="10175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503969" cy="1017500"/>
              </a:xfrm>
              <a:custGeom>
                <a:avLst/>
                <a:gdLst/>
                <a:ahLst/>
                <a:cxnLst/>
                <a:rect r="r" b="b" t="t" l="l"/>
                <a:pathLst>
                  <a:path h="1017500" w="6503969">
                    <a:moveTo>
                      <a:pt x="6379509" y="59690"/>
                    </a:moveTo>
                    <a:cubicBezTo>
                      <a:pt x="6415069" y="59690"/>
                      <a:pt x="6444279" y="88900"/>
                      <a:pt x="6444279" y="124460"/>
                    </a:cubicBezTo>
                    <a:lnTo>
                      <a:pt x="6444279" y="893040"/>
                    </a:lnTo>
                    <a:cubicBezTo>
                      <a:pt x="6444279" y="928600"/>
                      <a:pt x="6415069" y="957810"/>
                      <a:pt x="6379509" y="957810"/>
                    </a:cubicBezTo>
                    <a:lnTo>
                      <a:pt x="124460" y="957810"/>
                    </a:lnTo>
                    <a:cubicBezTo>
                      <a:pt x="88900" y="957810"/>
                      <a:pt x="59690" y="928600"/>
                      <a:pt x="59690" y="8930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6379509" y="59690"/>
                    </a:lnTo>
                    <a:moveTo>
                      <a:pt x="6379509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893040"/>
                    </a:lnTo>
                    <a:cubicBezTo>
                      <a:pt x="0" y="961620"/>
                      <a:pt x="55880" y="1017500"/>
                      <a:pt x="124460" y="1017500"/>
                    </a:cubicBezTo>
                    <a:lnTo>
                      <a:pt x="6379509" y="1017500"/>
                    </a:lnTo>
                    <a:cubicBezTo>
                      <a:pt x="6448089" y="1017500"/>
                      <a:pt x="6503969" y="961620"/>
                      <a:pt x="6503969" y="893040"/>
                    </a:cubicBezTo>
                    <a:lnTo>
                      <a:pt x="6503969" y="124460"/>
                    </a:lnTo>
                    <a:cubicBezTo>
                      <a:pt x="6503969" y="55880"/>
                      <a:pt x="6448089" y="0"/>
                      <a:pt x="6379509" y="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227414" y="143673"/>
              <a:ext cx="4466753" cy="4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 PAPERS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7273588" y="95472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AutoShape 48" id="48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94144" y="669533"/>
            <a:ext cx="9499713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Literature Review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522178" y="2532814"/>
          <a:ext cx="6286500" cy="2095500"/>
        </p:xfrm>
        <a:graphic>
          <a:graphicData uri="http://schemas.openxmlformats.org/presentationml/2006/ole">
            <p:oleObj imgW="7543800" imgH="33528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11832" y="2695005"/>
            <a:ext cx="2458119" cy="6563295"/>
          </a:xfrm>
          <a:custGeom>
            <a:avLst/>
            <a:gdLst/>
            <a:ahLst/>
            <a:cxnLst/>
            <a:rect r="r" b="b" t="t" l="l"/>
            <a:pathLst>
              <a:path h="6563295" w="2458119">
                <a:moveTo>
                  <a:pt x="0" y="0"/>
                </a:moveTo>
                <a:lnTo>
                  <a:pt x="2458119" y="0"/>
                </a:lnTo>
                <a:lnTo>
                  <a:pt x="2458119" y="6563295"/>
                </a:lnTo>
                <a:lnTo>
                  <a:pt x="0" y="6563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617157"/>
            <a:ext cx="12322097" cy="23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b="true" sz="7600" i="true" spc="-372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Where Current Research Falls Short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73104"/>
            <a:ext cx="16230600" cy="415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Over-reliance on self-reported data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Lack of </a:t>
            </a: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multi-factor integration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Negl</a:t>
            </a: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ect of </a:t>
            </a: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biomechanical data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Limited </a:t>
            </a: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predictive</a:t>
            </a: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power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We</a:t>
            </a: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ak patient self-management focus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Poor clinical integration</a:t>
            </a: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Lack of </a:t>
            </a: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personalized recommendations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9848" y="3051708"/>
            <a:ext cx="15328303" cy="175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8"/>
              </a:lnSpc>
            </a:pPr>
            <a:r>
              <a:rPr lang="en-US" b="true" sz="11573" i="true" spc="-567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14446"/>
            <a:ext cx="16230600" cy="280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Existing RA flare prediction approaches are fragmented—relying heavily on self-reported data, lacking integration of lifestyle, weather, and biomechanical factors, and offering limited support for patient self-management and clinical use.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7249" y="3767733"/>
            <a:ext cx="6596835" cy="2574000"/>
            <a:chOff x="0" y="0"/>
            <a:chExt cx="6151477" cy="24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97249" y="6684300"/>
            <a:ext cx="6596835" cy="2574000"/>
            <a:chOff x="0" y="0"/>
            <a:chExt cx="6151477" cy="24002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62465" y="3767733"/>
            <a:ext cx="6596835" cy="2574000"/>
            <a:chOff x="0" y="0"/>
            <a:chExt cx="6151477" cy="24002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62465" y="6694158"/>
            <a:ext cx="6596835" cy="2574000"/>
            <a:chOff x="0" y="0"/>
            <a:chExt cx="6151477" cy="24002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61244" y="2096099"/>
            <a:ext cx="14965512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Research Questions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028700" y="4186184"/>
            <a:ext cx="1737098" cy="1737098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3935" y="4702308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1028700" y="7102751"/>
            <a:ext cx="1737098" cy="1737098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73935" y="7618875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9793916" y="4186184"/>
            <a:ext cx="1737098" cy="1737098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39152" y="4702308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9793916" y="7102751"/>
            <a:ext cx="1737098" cy="1737098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39152" y="7618875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68329" y="4359347"/>
            <a:ext cx="4707366" cy="138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What clinical, lifestyle, and environmental factors most strongly influence flare occurrence in RA?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07239" y="4342689"/>
            <a:ext cx="4707366" cy="138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How can we measure ROM of joints and use those measurements to predict the risk of an RA flare?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35814" y="7285772"/>
            <a:ext cx="4707366" cy="138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How can a digital self-management framework balance patient usability with clinical integration?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68329" y="7447379"/>
            <a:ext cx="4707366" cy="103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To what extent can a predictive model provide personalized and reliable flare risk estimates?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7249" y="3767733"/>
            <a:ext cx="6596835" cy="2574000"/>
            <a:chOff x="0" y="0"/>
            <a:chExt cx="6151477" cy="24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97249" y="6684300"/>
            <a:ext cx="6596835" cy="2574000"/>
            <a:chOff x="0" y="0"/>
            <a:chExt cx="6151477" cy="24002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62465" y="3767733"/>
            <a:ext cx="6596835" cy="2574000"/>
            <a:chOff x="0" y="0"/>
            <a:chExt cx="6151477" cy="24002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62465" y="6694158"/>
            <a:ext cx="6596835" cy="2574000"/>
            <a:chOff x="0" y="0"/>
            <a:chExt cx="6151477" cy="24002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61244" y="2096099"/>
            <a:ext cx="14965512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Research Objectives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028700" y="4186184"/>
            <a:ext cx="1737098" cy="1737098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3935" y="4702308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1028700" y="7102751"/>
            <a:ext cx="1737098" cy="1737098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73935" y="7618875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9793916" y="4186184"/>
            <a:ext cx="1737098" cy="1737098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39152" y="4702308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9793916" y="7102751"/>
            <a:ext cx="1737098" cy="1737098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39152" y="7618875"/>
            <a:ext cx="1246627" cy="69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54173" y="4702278"/>
            <a:ext cx="4707366" cy="6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Identify clinical, lifestyle, and environmental factors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19390" y="4514201"/>
            <a:ext cx="470736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Incorporate objective biomechanical (movement) measurements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19390" y="7618844"/>
            <a:ext cx="4707366" cy="6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Establish a patient-centered self-management framework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68329" y="7665678"/>
            <a:ext cx="4707366" cy="6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Develop a predictive model that estimates personalized flare risk 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1244" y="3922579"/>
            <a:ext cx="3851713" cy="2441841"/>
            <a:chOff x="0" y="0"/>
            <a:chExt cx="5135618" cy="3255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24641" y="0"/>
              <a:ext cx="2286335" cy="2419403"/>
            </a:xfrm>
            <a:custGeom>
              <a:avLst/>
              <a:gdLst/>
              <a:ahLst/>
              <a:cxnLst/>
              <a:rect r="r" b="b" t="t" l="l"/>
              <a:pathLst>
                <a:path h="2419403" w="2286335">
                  <a:moveTo>
                    <a:pt x="0" y="0"/>
                  </a:moveTo>
                  <a:lnTo>
                    <a:pt x="2286336" y="0"/>
                  </a:lnTo>
                  <a:lnTo>
                    <a:pt x="2286336" y="2419403"/>
                  </a:lnTo>
                  <a:lnTo>
                    <a:pt x="0" y="241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16049"/>
              <a:ext cx="5135618" cy="539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Patient Data Input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18143" y="3982027"/>
            <a:ext cx="3851713" cy="2441841"/>
            <a:chOff x="0" y="0"/>
            <a:chExt cx="5135618" cy="32557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60533" y="0"/>
              <a:ext cx="1814552" cy="2419403"/>
            </a:xfrm>
            <a:custGeom>
              <a:avLst/>
              <a:gdLst/>
              <a:ahLst/>
              <a:cxnLst/>
              <a:rect r="r" b="b" t="t" l="l"/>
              <a:pathLst>
                <a:path h="2419403" w="1814552">
                  <a:moveTo>
                    <a:pt x="0" y="0"/>
                  </a:moveTo>
                  <a:lnTo>
                    <a:pt x="1814552" y="0"/>
                  </a:lnTo>
                  <a:lnTo>
                    <a:pt x="1814552" y="2419403"/>
                  </a:lnTo>
                  <a:lnTo>
                    <a:pt x="0" y="241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716049"/>
              <a:ext cx="5135618" cy="539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RALens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15034" y="3922579"/>
            <a:ext cx="3851713" cy="2441841"/>
            <a:chOff x="0" y="0"/>
            <a:chExt cx="5135618" cy="32557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38250" y="0"/>
              <a:ext cx="2259117" cy="2419403"/>
            </a:xfrm>
            <a:custGeom>
              <a:avLst/>
              <a:gdLst/>
              <a:ahLst/>
              <a:cxnLst/>
              <a:rect r="r" b="b" t="t" l="l"/>
              <a:pathLst>
                <a:path h="2419403" w="2259117">
                  <a:moveTo>
                    <a:pt x="0" y="0"/>
                  </a:moveTo>
                  <a:lnTo>
                    <a:pt x="2259117" y="0"/>
                  </a:lnTo>
                  <a:lnTo>
                    <a:pt x="2259117" y="2419403"/>
                  </a:lnTo>
                  <a:lnTo>
                    <a:pt x="0" y="241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2716049"/>
              <a:ext cx="5135618" cy="539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Weather Integration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61244" y="2238933"/>
            <a:ext cx="14965512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Application Modules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863743" y="6823919"/>
            <a:ext cx="3446714" cy="2871318"/>
            <a:chOff x="0" y="0"/>
            <a:chExt cx="4595619" cy="38284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45716" y="0"/>
              <a:ext cx="1992324" cy="2419403"/>
            </a:xfrm>
            <a:custGeom>
              <a:avLst/>
              <a:gdLst/>
              <a:ahLst/>
              <a:cxnLst/>
              <a:rect r="r" b="b" t="t" l="l"/>
              <a:pathLst>
                <a:path h="2419403" w="1992324">
                  <a:moveTo>
                    <a:pt x="0" y="0"/>
                  </a:moveTo>
                  <a:lnTo>
                    <a:pt x="1992323" y="0"/>
                  </a:lnTo>
                  <a:lnTo>
                    <a:pt x="1992323" y="2419403"/>
                  </a:lnTo>
                  <a:lnTo>
                    <a:pt x="0" y="241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4131" t="0" r="-4584" b="-440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767995"/>
              <a:ext cx="4595619" cy="1060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Flare Prediction Engine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18143" y="6823919"/>
            <a:ext cx="3851713" cy="2871318"/>
            <a:chOff x="0" y="0"/>
            <a:chExt cx="5135618" cy="38284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36859" y="0"/>
              <a:ext cx="1750035" cy="2419403"/>
            </a:xfrm>
            <a:custGeom>
              <a:avLst/>
              <a:gdLst/>
              <a:ahLst/>
              <a:cxnLst/>
              <a:rect r="r" b="b" t="t" l="l"/>
              <a:pathLst>
                <a:path h="2419403" w="1750035">
                  <a:moveTo>
                    <a:pt x="0" y="0"/>
                  </a:moveTo>
                  <a:lnTo>
                    <a:pt x="1750035" y="0"/>
                  </a:lnTo>
                  <a:lnTo>
                    <a:pt x="1750035" y="2419403"/>
                  </a:lnTo>
                  <a:lnTo>
                    <a:pt x="0" y="2419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2767995"/>
              <a:ext cx="5135618" cy="1060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Personalized Recommendations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15034" y="7323926"/>
            <a:ext cx="3851713" cy="2371311"/>
            <a:chOff x="0" y="0"/>
            <a:chExt cx="5135618" cy="31617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457173" y="0"/>
              <a:ext cx="2109408" cy="1752726"/>
            </a:xfrm>
            <a:custGeom>
              <a:avLst/>
              <a:gdLst/>
              <a:ahLst/>
              <a:cxnLst/>
              <a:rect r="r" b="b" t="t" l="l"/>
              <a:pathLst>
                <a:path h="1752726" w="2109408">
                  <a:moveTo>
                    <a:pt x="0" y="0"/>
                  </a:moveTo>
                  <a:lnTo>
                    <a:pt x="2109408" y="0"/>
                  </a:lnTo>
                  <a:lnTo>
                    <a:pt x="2109408" y="1752726"/>
                  </a:lnTo>
                  <a:lnTo>
                    <a:pt x="0" y="1752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2101319"/>
              <a:ext cx="5135618" cy="1060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Disease Progress Dashboard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1785"/>
            <a:ext cx="1214402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-367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MODULE CONTRIBUTION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30020" y="3752506"/>
            <a:ext cx="2027959" cy="1604623"/>
          </a:xfrm>
          <a:custGeom>
            <a:avLst/>
            <a:gdLst/>
            <a:ahLst/>
            <a:cxnLst/>
            <a:rect r="r" b="b" t="t" l="l"/>
            <a:pathLst>
              <a:path h="1604623" w="2027959">
                <a:moveTo>
                  <a:pt x="0" y="0"/>
                </a:moveTo>
                <a:lnTo>
                  <a:pt x="2027960" y="0"/>
                </a:lnTo>
                <a:lnTo>
                  <a:pt x="2027960" y="1604623"/>
                </a:lnTo>
                <a:lnTo>
                  <a:pt x="0" y="1604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37299" y="2519495"/>
            <a:ext cx="2413402" cy="8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Weather Module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874950" y="3605407"/>
            <a:ext cx="1884580" cy="1898821"/>
          </a:xfrm>
          <a:custGeom>
            <a:avLst/>
            <a:gdLst/>
            <a:ahLst/>
            <a:cxnLst/>
            <a:rect r="r" b="b" t="t" l="l"/>
            <a:pathLst>
              <a:path h="1898821" w="1884580">
                <a:moveTo>
                  <a:pt x="0" y="0"/>
                </a:moveTo>
                <a:lnTo>
                  <a:pt x="1884580" y="0"/>
                </a:lnTo>
                <a:lnTo>
                  <a:pt x="1884580" y="1898821"/>
                </a:lnTo>
                <a:lnTo>
                  <a:pt x="0" y="1898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1383" y="2519495"/>
            <a:ext cx="3851713" cy="8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RA-Lens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(Range of Motion)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549832" y="3605407"/>
            <a:ext cx="1841856" cy="1898821"/>
          </a:xfrm>
          <a:custGeom>
            <a:avLst/>
            <a:gdLst/>
            <a:ahLst/>
            <a:cxnLst/>
            <a:rect r="r" b="b" t="t" l="l"/>
            <a:pathLst>
              <a:path h="1898821" w="1841856">
                <a:moveTo>
                  <a:pt x="0" y="0"/>
                </a:moveTo>
                <a:lnTo>
                  <a:pt x="1841856" y="0"/>
                </a:lnTo>
                <a:lnTo>
                  <a:pt x="1841856" y="1898821"/>
                </a:lnTo>
                <a:lnTo>
                  <a:pt x="0" y="18988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44904" y="2519495"/>
            <a:ext cx="3851713" cy="8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Lifestyle &amp; Demographics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732828"/>
            <a:ext cx="3851713" cy="2180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Input: 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Patient video of joint movements</a:t>
            </a:r>
          </a:p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Resource: 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Expert ROM benchmarks, CV tools</a:t>
            </a:r>
          </a:p>
          <a:p>
            <a:pPr algn="ctr">
              <a:lnSpc>
                <a:spcPts val="2880"/>
              </a:lnSpc>
            </a:pPr>
            <a:r>
              <a:rPr lang="en-US" b="true" sz="24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Output: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Detects stiff/limited joints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8143" y="5732828"/>
            <a:ext cx="3851713" cy="254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Input: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Local weather data (temp, humidity, pressure)</a:t>
            </a:r>
          </a:p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Resource: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Daily patient logs (pain, stiffness, etc)</a:t>
            </a:r>
          </a:p>
          <a:p>
            <a:pPr algn="ctr">
              <a:lnSpc>
                <a:spcPts val="2880"/>
              </a:lnSpc>
            </a:pPr>
            <a:r>
              <a:rPr lang="en-US" b="true" sz="24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Output: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 Identifies environmental flare triggers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07587" y="5732828"/>
            <a:ext cx="3851713" cy="254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Input: 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Demographics &amp; lifestyle choices</a:t>
            </a:r>
          </a:p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Resource: 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NHANES dataset + patient surveys</a:t>
            </a:r>
          </a:p>
          <a:p>
            <a:pPr algn="ctr">
              <a:lnSpc>
                <a:spcPts val="2880"/>
              </a:lnSpc>
            </a:pPr>
            <a:r>
              <a:rPr lang="en-US" b="true" sz="24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Output:</a:t>
            </a:r>
            <a:r>
              <a:rPr lang="en-US" sz="24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Baseline RA risk &amp; personalized recommendations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4950" y="3605407"/>
            <a:ext cx="1884580" cy="1898821"/>
          </a:xfrm>
          <a:custGeom>
            <a:avLst/>
            <a:gdLst/>
            <a:ahLst/>
            <a:cxnLst/>
            <a:rect r="r" b="b" t="t" l="l"/>
            <a:pathLst>
              <a:path h="1898821" w="1884580">
                <a:moveTo>
                  <a:pt x="0" y="0"/>
                </a:moveTo>
                <a:lnTo>
                  <a:pt x="1884580" y="0"/>
                </a:lnTo>
                <a:lnTo>
                  <a:pt x="1884580" y="1898821"/>
                </a:lnTo>
                <a:lnTo>
                  <a:pt x="0" y="1898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49832" y="3605407"/>
            <a:ext cx="1841856" cy="1898821"/>
          </a:xfrm>
          <a:custGeom>
            <a:avLst/>
            <a:gdLst/>
            <a:ahLst/>
            <a:cxnLst/>
            <a:rect r="r" b="b" t="t" l="l"/>
            <a:pathLst>
              <a:path h="1898821" w="1841856">
                <a:moveTo>
                  <a:pt x="0" y="0"/>
                </a:moveTo>
                <a:lnTo>
                  <a:pt x="1841856" y="0"/>
                </a:lnTo>
                <a:lnTo>
                  <a:pt x="1841856" y="1898821"/>
                </a:lnTo>
                <a:lnTo>
                  <a:pt x="0" y="1898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2825340" y="6596269"/>
            <a:ext cx="5518199" cy="1032587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H="true">
            <a:off x="9943839" y="6596269"/>
            <a:ext cx="5526921" cy="103282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31785"/>
            <a:ext cx="9499713" cy="114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-367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Data 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1383" y="2519495"/>
            <a:ext cx="3851713" cy="8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RA-Lens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(Range of Motion)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44904" y="2519495"/>
            <a:ext cx="3851713" cy="8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Lifestyle &amp; Demographics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130020" y="3752506"/>
            <a:ext cx="2027959" cy="1604623"/>
          </a:xfrm>
          <a:custGeom>
            <a:avLst/>
            <a:gdLst/>
            <a:ahLst/>
            <a:cxnLst/>
            <a:rect r="r" b="b" t="t" l="l"/>
            <a:pathLst>
              <a:path h="1604623" w="2027959">
                <a:moveTo>
                  <a:pt x="0" y="0"/>
                </a:moveTo>
                <a:lnTo>
                  <a:pt x="2027960" y="0"/>
                </a:lnTo>
                <a:lnTo>
                  <a:pt x="2027960" y="1604623"/>
                </a:lnTo>
                <a:lnTo>
                  <a:pt x="0" y="16046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9144000" y="6416188"/>
            <a:ext cx="0" cy="1127939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5400000">
            <a:off x="8265221" y="7500029"/>
            <a:ext cx="1757558" cy="2049630"/>
          </a:xfrm>
          <a:custGeom>
            <a:avLst/>
            <a:gdLst/>
            <a:ahLst/>
            <a:cxnLst/>
            <a:rect r="r" b="b" t="t" l="l"/>
            <a:pathLst>
              <a:path h="2049630" w="1757558">
                <a:moveTo>
                  <a:pt x="0" y="0"/>
                </a:moveTo>
                <a:lnTo>
                  <a:pt x="1757558" y="0"/>
                </a:lnTo>
                <a:lnTo>
                  <a:pt x="1757558" y="2049630"/>
                </a:lnTo>
                <a:lnTo>
                  <a:pt x="0" y="2049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37299" y="2519495"/>
            <a:ext cx="2413402" cy="8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Weather Module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99941" y="9497535"/>
            <a:ext cx="5288118" cy="42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Flare Prediction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22121" y="5732828"/>
            <a:ext cx="4897278" cy="54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</a:pPr>
            <a:r>
              <a:rPr lang="en-US" b="true" sz="356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5361" y="5732828"/>
            <a:ext cx="4897278" cy="54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</a:pPr>
            <a:r>
              <a:rPr lang="en-US" b="true" sz="356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8601" y="5732828"/>
            <a:ext cx="4897278" cy="54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</a:pPr>
            <a:r>
              <a:rPr lang="en-US" b="true" sz="356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WHERE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1244" y="695325"/>
            <a:ext cx="14965512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Evaluation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graphicFrame>
        <p:nvGraphicFramePr>
          <p:cNvPr name="Object 4" id="4"/>
          <p:cNvGraphicFramePr/>
          <p:nvPr/>
        </p:nvGraphicFramePr>
        <p:xfrm>
          <a:off x="907630" y="2228634"/>
          <a:ext cx="17243644" cy="7303009"/>
        </p:xfrm>
        <a:graphic>
          <a:graphicData uri="http://schemas.openxmlformats.org/presentationml/2006/ole">
            <p:oleObj imgW="20688300" imgH="10744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736043" y="4805721"/>
            <a:ext cx="3993857" cy="4719192"/>
            <a:chOff x="0" y="0"/>
            <a:chExt cx="3551246" cy="41961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1246" cy="4196197"/>
            </a:xfrm>
            <a:custGeom>
              <a:avLst/>
              <a:gdLst/>
              <a:ahLst/>
              <a:cxnLst/>
              <a:rect r="r" b="b" t="t" l="l"/>
              <a:pathLst>
                <a:path h="4196197" w="3551246">
                  <a:moveTo>
                    <a:pt x="3426786" y="59690"/>
                  </a:moveTo>
                  <a:cubicBezTo>
                    <a:pt x="3462346" y="59690"/>
                    <a:pt x="3491556" y="88900"/>
                    <a:pt x="3491556" y="124460"/>
                  </a:cubicBezTo>
                  <a:lnTo>
                    <a:pt x="3491556" y="4071737"/>
                  </a:lnTo>
                  <a:cubicBezTo>
                    <a:pt x="3491556" y="4107297"/>
                    <a:pt x="3462346" y="4136507"/>
                    <a:pt x="3426786" y="4136507"/>
                  </a:cubicBezTo>
                  <a:lnTo>
                    <a:pt x="124460" y="4136507"/>
                  </a:lnTo>
                  <a:cubicBezTo>
                    <a:pt x="88900" y="4136507"/>
                    <a:pt x="59690" y="4107297"/>
                    <a:pt x="59690" y="40717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26786" y="59690"/>
                  </a:lnTo>
                  <a:moveTo>
                    <a:pt x="3426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71737"/>
                  </a:lnTo>
                  <a:cubicBezTo>
                    <a:pt x="0" y="4140317"/>
                    <a:pt x="55880" y="4196197"/>
                    <a:pt x="124460" y="4196197"/>
                  </a:cubicBezTo>
                  <a:lnTo>
                    <a:pt x="3426786" y="4196197"/>
                  </a:lnTo>
                  <a:cubicBezTo>
                    <a:pt x="3495366" y="4196197"/>
                    <a:pt x="3551246" y="4140317"/>
                    <a:pt x="3551246" y="4071737"/>
                  </a:cubicBezTo>
                  <a:lnTo>
                    <a:pt x="3551246" y="124460"/>
                  </a:lnTo>
                  <a:cubicBezTo>
                    <a:pt x="3551246" y="55880"/>
                    <a:pt x="3495366" y="0"/>
                    <a:pt x="342678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45143" y="4805721"/>
            <a:ext cx="3993857" cy="4719192"/>
            <a:chOff x="0" y="0"/>
            <a:chExt cx="3551246" cy="4196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1246" cy="4196197"/>
            </a:xfrm>
            <a:custGeom>
              <a:avLst/>
              <a:gdLst/>
              <a:ahLst/>
              <a:cxnLst/>
              <a:rect r="r" b="b" t="t" l="l"/>
              <a:pathLst>
                <a:path h="4196197" w="3551246">
                  <a:moveTo>
                    <a:pt x="3426786" y="59690"/>
                  </a:moveTo>
                  <a:cubicBezTo>
                    <a:pt x="3462346" y="59690"/>
                    <a:pt x="3491556" y="88900"/>
                    <a:pt x="3491556" y="124460"/>
                  </a:cubicBezTo>
                  <a:lnTo>
                    <a:pt x="3491556" y="4071737"/>
                  </a:lnTo>
                  <a:cubicBezTo>
                    <a:pt x="3491556" y="4107297"/>
                    <a:pt x="3462346" y="4136507"/>
                    <a:pt x="3426786" y="4136507"/>
                  </a:cubicBezTo>
                  <a:lnTo>
                    <a:pt x="124460" y="4136507"/>
                  </a:lnTo>
                  <a:cubicBezTo>
                    <a:pt x="88900" y="4136507"/>
                    <a:pt x="59690" y="4107297"/>
                    <a:pt x="59690" y="40717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26786" y="59690"/>
                  </a:lnTo>
                  <a:moveTo>
                    <a:pt x="3426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71737"/>
                  </a:lnTo>
                  <a:cubicBezTo>
                    <a:pt x="0" y="4140317"/>
                    <a:pt x="55880" y="4196197"/>
                    <a:pt x="124460" y="4196197"/>
                  </a:cubicBezTo>
                  <a:lnTo>
                    <a:pt x="3426786" y="4196197"/>
                  </a:lnTo>
                  <a:cubicBezTo>
                    <a:pt x="3495366" y="4196197"/>
                    <a:pt x="3551246" y="4140317"/>
                    <a:pt x="3551246" y="4071737"/>
                  </a:cubicBezTo>
                  <a:lnTo>
                    <a:pt x="3551246" y="124460"/>
                  </a:lnTo>
                  <a:cubicBezTo>
                    <a:pt x="3551246" y="55880"/>
                    <a:pt x="3495366" y="0"/>
                    <a:pt x="342678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45143" y="3814366"/>
            <a:ext cx="3993857" cy="773093"/>
            <a:chOff x="0" y="0"/>
            <a:chExt cx="3411676" cy="66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58100" y="4810068"/>
            <a:ext cx="3993857" cy="4719192"/>
            <a:chOff x="0" y="0"/>
            <a:chExt cx="3551246" cy="4196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1246" cy="4196197"/>
            </a:xfrm>
            <a:custGeom>
              <a:avLst/>
              <a:gdLst/>
              <a:ahLst/>
              <a:cxnLst/>
              <a:rect r="r" b="b" t="t" l="l"/>
              <a:pathLst>
                <a:path h="4196197" w="3551246">
                  <a:moveTo>
                    <a:pt x="3426786" y="59690"/>
                  </a:moveTo>
                  <a:cubicBezTo>
                    <a:pt x="3462346" y="59690"/>
                    <a:pt x="3491556" y="88900"/>
                    <a:pt x="3491556" y="124460"/>
                  </a:cubicBezTo>
                  <a:lnTo>
                    <a:pt x="3491556" y="4071737"/>
                  </a:lnTo>
                  <a:cubicBezTo>
                    <a:pt x="3491556" y="4107297"/>
                    <a:pt x="3462346" y="4136507"/>
                    <a:pt x="3426786" y="4136507"/>
                  </a:cubicBezTo>
                  <a:lnTo>
                    <a:pt x="124460" y="4136507"/>
                  </a:lnTo>
                  <a:cubicBezTo>
                    <a:pt x="88900" y="4136507"/>
                    <a:pt x="59690" y="4107297"/>
                    <a:pt x="59690" y="40717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26786" y="59690"/>
                  </a:lnTo>
                  <a:moveTo>
                    <a:pt x="3426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71737"/>
                  </a:lnTo>
                  <a:cubicBezTo>
                    <a:pt x="0" y="4140317"/>
                    <a:pt x="55880" y="4196197"/>
                    <a:pt x="124460" y="4196197"/>
                  </a:cubicBezTo>
                  <a:lnTo>
                    <a:pt x="3426786" y="4196197"/>
                  </a:lnTo>
                  <a:cubicBezTo>
                    <a:pt x="3495366" y="4196197"/>
                    <a:pt x="3551246" y="4140317"/>
                    <a:pt x="3551246" y="4071737"/>
                  </a:cubicBezTo>
                  <a:lnTo>
                    <a:pt x="3551246" y="124460"/>
                  </a:lnTo>
                  <a:cubicBezTo>
                    <a:pt x="3551246" y="55880"/>
                    <a:pt x="3495366" y="0"/>
                    <a:pt x="342678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58100" y="3818712"/>
            <a:ext cx="3993857" cy="773093"/>
            <a:chOff x="0" y="0"/>
            <a:chExt cx="3411676" cy="660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097711" y="5463648"/>
            <a:ext cx="1429473" cy="1424113"/>
          </a:xfrm>
          <a:custGeom>
            <a:avLst/>
            <a:gdLst/>
            <a:ahLst/>
            <a:cxnLst/>
            <a:rect r="r" b="b" t="t" l="l"/>
            <a:pathLst>
              <a:path h="1424113" w="1429473">
                <a:moveTo>
                  <a:pt x="0" y="0"/>
                </a:moveTo>
                <a:lnTo>
                  <a:pt x="1429473" y="0"/>
                </a:lnTo>
                <a:lnTo>
                  <a:pt x="1429473" y="1424113"/>
                </a:lnTo>
                <a:lnTo>
                  <a:pt x="0" y="142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73235" y="7135522"/>
            <a:ext cx="1878424" cy="1878424"/>
          </a:xfrm>
          <a:custGeom>
            <a:avLst/>
            <a:gdLst/>
            <a:ahLst/>
            <a:cxnLst/>
            <a:rect r="r" b="b" t="t" l="l"/>
            <a:pathLst>
              <a:path h="1878424" w="1878424">
                <a:moveTo>
                  <a:pt x="0" y="0"/>
                </a:moveTo>
                <a:lnTo>
                  <a:pt x="1878424" y="0"/>
                </a:lnTo>
                <a:lnTo>
                  <a:pt x="1878424" y="1878423"/>
                </a:lnTo>
                <a:lnTo>
                  <a:pt x="0" y="187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729505" y="5552414"/>
            <a:ext cx="1363968" cy="1214784"/>
          </a:xfrm>
          <a:custGeom>
            <a:avLst/>
            <a:gdLst/>
            <a:ahLst/>
            <a:cxnLst/>
            <a:rect r="r" b="b" t="t" l="l"/>
            <a:pathLst>
              <a:path h="1214784" w="1363968">
                <a:moveTo>
                  <a:pt x="0" y="0"/>
                </a:moveTo>
                <a:lnTo>
                  <a:pt x="1363969" y="0"/>
                </a:lnTo>
                <a:lnTo>
                  <a:pt x="1363969" y="1214784"/>
                </a:lnTo>
                <a:lnTo>
                  <a:pt x="0" y="1214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95450" y="5546111"/>
            <a:ext cx="1259188" cy="1259188"/>
          </a:xfrm>
          <a:custGeom>
            <a:avLst/>
            <a:gdLst/>
            <a:ahLst/>
            <a:cxnLst/>
            <a:rect r="r" b="b" t="t" l="l"/>
            <a:pathLst>
              <a:path h="1259188" w="1259188">
                <a:moveTo>
                  <a:pt x="0" y="0"/>
                </a:moveTo>
                <a:lnTo>
                  <a:pt x="1259188" y="0"/>
                </a:lnTo>
                <a:lnTo>
                  <a:pt x="1259188" y="1259187"/>
                </a:lnTo>
                <a:lnTo>
                  <a:pt x="0" y="1259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94855" y="5455934"/>
            <a:ext cx="1300994" cy="1341650"/>
          </a:xfrm>
          <a:custGeom>
            <a:avLst/>
            <a:gdLst/>
            <a:ahLst/>
            <a:cxnLst/>
            <a:rect r="r" b="b" t="t" l="l"/>
            <a:pathLst>
              <a:path h="1341650" w="1300994">
                <a:moveTo>
                  <a:pt x="0" y="0"/>
                </a:moveTo>
                <a:lnTo>
                  <a:pt x="1300994" y="0"/>
                </a:lnTo>
                <a:lnTo>
                  <a:pt x="1300994" y="1341650"/>
                </a:lnTo>
                <a:lnTo>
                  <a:pt x="0" y="1341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774590" y="5455934"/>
            <a:ext cx="1013967" cy="1391379"/>
          </a:xfrm>
          <a:custGeom>
            <a:avLst/>
            <a:gdLst/>
            <a:ahLst/>
            <a:cxnLst/>
            <a:rect r="r" b="b" t="t" l="l"/>
            <a:pathLst>
              <a:path h="1391379" w="1013967">
                <a:moveTo>
                  <a:pt x="0" y="0"/>
                </a:moveTo>
                <a:lnTo>
                  <a:pt x="1013967" y="0"/>
                </a:lnTo>
                <a:lnTo>
                  <a:pt x="1013967" y="1391378"/>
                </a:lnTo>
                <a:lnTo>
                  <a:pt x="0" y="13913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31434" y="7559886"/>
            <a:ext cx="2825132" cy="820979"/>
          </a:xfrm>
          <a:custGeom>
            <a:avLst/>
            <a:gdLst/>
            <a:ahLst/>
            <a:cxnLst/>
            <a:rect r="r" b="b" t="t" l="l"/>
            <a:pathLst>
              <a:path h="820979" w="2825132">
                <a:moveTo>
                  <a:pt x="0" y="0"/>
                </a:moveTo>
                <a:lnTo>
                  <a:pt x="2825132" y="0"/>
                </a:lnTo>
                <a:lnTo>
                  <a:pt x="2825132" y="820978"/>
                </a:lnTo>
                <a:lnTo>
                  <a:pt x="0" y="8209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78510" y="7500934"/>
            <a:ext cx="1333684" cy="1267000"/>
          </a:xfrm>
          <a:custGeom>
            <a:avLst/>
            <a:gdLst/>
            <a:ahLst/>
            <a:cxnLst/>
            <a:rect r="r" b="b" t="t" l="l"/>
            <a:pathLst>
              <a:path h="1267000" w="1333684">
                <a:moveTo>
                  <a:pt x="0" y="0"/>
                </a:moveTo>
                <a:lnTo>
                  <a:pt x="1333684" y="0"/>
                </a:lnTo>
                <a:lnTo>
                  <a:pt x="1333684" y="1267000"/>
                </a:lnTo>
                <a:lnTo>
                  <a:pt x="0" y="126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555029" y="7559886"/>
            <a:ext cx="1699949" cy="1149097"/>
          </a:xfrm>
          <a:custGeom>
            <a:avLst/>
            <a:gdLst/>
            <a:ahLst/>
            <a:cxnLst/>
            <a:rect r="r" b="b" t="t" l="l"/>
            <a:pathLst>
              <a:path h="1149097" w="1699949">
                <a:moveTo>
                  <a:pt x="0" y="0"/>
                </a:moveTo>
                <a:lnTo>
                  <a:pt x="1699949" y="0"/>
                </a:lnTo>
                <a:lnTo>
                  <a:pt x="1699949" y="1149096"/>
                </a:lnTo>
                <a:lnTo>
                  <a:pt x="0" y="11490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6759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979653" y="2176046"/>
            <a:ext cx="12328693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Tentative Tech Stack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736043" y="3814366"/>
            <a:ext cx="3993857" cy="773093"/>
            <a:chOff x="0" y="0"/>
            <a:chExt cx="5325143" cy="103079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325143" cy="1030791"/>
              <a:chOff x="0" y="0"/>
              <a:chExt cx="3411676" cy="660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411676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3411676">
                    <a:moveTo>
                      <a:pt x="3287216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287216" y="0"/>
                    </a:lnTo>
                    <a:cubicBezTo>
                      <a:pt x="3355796" y="0"/>
                      <a:pt x="3411676" y="55880"/>
                      <a:pt x="3411676" y="124460"/>
                    </a:cubicBezTo>
                    <a:lnTo>
                      <a:pt x="3411676" y="535940"/>
                    </a:lnTo>
                    <a:cubicBezTo>
                      <a:pt x="3411676" y="604520"/>
                      <a:pt x="3355796" y="660400"/>
                      <a:pt x="3287216" y="66040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94763" y="258220"/>
              <a:ext cx="5135618" cy="504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F5F5F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Data &amp; ML Layer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216215" y="4005650"/>
            <a:ext cx="3851713" cy="38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Application Layer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29172" y="4009996"/>
            <a:ext cx="3851713" cy="38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&amp; Storage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95434" y="5527503"/>
            <a:ext cx="16297132" cy="3076560"/>
            <a:chOff x="0" y="0"/>
            <a:chExt cx="21729510" cy="4102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97032" y="401647"/>
              <a:ext cx="2341553" cy="2341553"/>
            </a:xfrm>
            <a:custGeom>
              <a:avLst/>
              <a:gdLst/>
              <a:ahLst/>
              <a:cxnLst/>
              <a:rect r="r" b="b" t="t" l="l"/>
              <a:pathLst>
                <a:path h="2341553" w="2341553">
                  <a:moveTo>
                    <a:pt x="0" y="0"/>
                  </a:moveTo>
                  <a:lnTo>
                    <a:pt x="2341553" y="0"/>
                  </a:lnTo>
                  <a:lnTo>
                    <a:pt x="2341553" y="2341553"/>
                  </a:lnTo>
                  <a:lnTo>
                    <a:pt x="0" y="2341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786764" y="0"/>
              <a:ext cx="2245995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45995">
                  <a:moveTo>
                    <a:pt x="0" y="0"/>
                  </a:moveTo>
                  <a:lnTo>
                    <a:pt x="2245995" y="0"/>
                  </a:lnTo>
                  <a:lnTo>
                    <a:pt x="2245995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080937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872316" y="164430"/>
              <a:ext cx="2578770" cy="2578770"/>
            </a:xfrm>
            <a:custGeom>
              <a:avLst/>
              <a:gdLst/>
              <a:ahLst/>
              <a:cxnLst/>
              <a:rect r="r" b="b" t="t" l="l"/>
              <a:pathLst>
                <a:path h="2578770" w="2578770">
                  <a:moveTo>
                    <a:pt x="0" y="0"/>
                  </a:moveTo>
                  <a:lnTo>
                    <a:pt x="2578770" y="0"/>
                  </a:lnTo>
                  <a:lnTo>
                    <a:pt x="2578770" y="2578770"/>
                  </a:lnTo>
                  <a:lnTo>
                    <a:pt x="0" y="2578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3041650"/>
              <a:ext cx="5135618" cy="539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Data Collection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341952" y="3041650"/>
              <a:ext cx="5135618" cy="539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Clinical Expertise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884728" y="3041650"/>
              <a:ext cx="5135618" cy="539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Research Support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593892" y="3041650"/>
              <a:ext cx="5135618" cy="1060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Pilot Testing &amp; Feedback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862813" y="2301396"/>
            <a:ext cx="2442235" cy="2442235"/>
          </a:xfrm>
          <a:custGeom>
            <a:avLst/>
            <a:gdLst/>
            <a:ahLst/>
            <a:cxnLst/>
            <a:rect r="r" b="b" t="t" l="l"/>
            <a:pathLst>
              <a:path h="2442235" w="2442235">
                <a:moveTo>
                  <a:pt x="0" y="0"/>
                </a:moveTo>
                <a:lnTo>
                  <a:pt x="2442235" y="0"/>
                </a:lnTo>
                <a:lnTo>
                  <a:pt x="2442235" y="2442235"/>
                </a:lnTo>
                <a:lnTo>
                  <a:pt x="0" y="24422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82952" y="2470024"/>
            <a:ext cx="12322097" cy="2104979"/>
            <a:chOff x="0" y="0"/>
            <a:chExt cx="16429462" cy="280663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16429462" cy="1536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20"/>
                </a:lnSpc>
              </a:pPr>
              <a:r>
                <a:rPr lang="en-US" b="true" sz="7600" i="true" spc="-372">
                  <a:solidFill>
                    <a:srgbClr val="333333"/>
                  </a:solidFill>
                  <a:latin typeface="Noto Serif Display Bold Italics"/>
                  <a:ea typeface="Noto Serif Display Bold Italics"/>
                  <a:cs typeface="Noto Serif Display Bold Italics"/>
                  <a:sym typeface="Noto Serif Display Bold Italics"/>
                </a:rPr>
                <a:t>Collaborator &amp; Role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527113"/>
              <a:ext cx="16429462" cy="127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6300" spc="-308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Physiotherapy Dept, GIMES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927845" y="6498940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7404470" y="6498940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0881095" y="6498940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4360155" y="6498940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33190" y="5219096"/>
            <a:ext cx="16221619" cy="1136969"/>
          </a:xfrm>
          <a:custGeom>
            <a:avLst/>
            <a:gdLst/>
            <a:ahLst/>
            <a:cxnLst/>
            <a:rect r="r" b="b" t="t" l="l"/>
            <a:pathLst>
              <a:path h="1136969" w="16221619">
                <a:moveTo>
                  <a:pt x="0" y="0"/>
                </a:moveTo>
                <a:lnTo>
                  <a:pt x="16221620" y="0"/>
                </a:lnTo>
                <a:lnTo>
                  <a:pt x="16221620" y="1136969"/>
                </a:lnTo>
                <a:lnTo>
                  <a:pt x="0" y="1136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816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1244" y="2294983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Project Roadmap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22482" y="971550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6486" y="4180933"/>
            <a:ext cx="3142718" cy="7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Q1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Fall-2025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33111" y="4180933"/>
            <a:ext cx="3142718" cy="7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Q2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Fall-2025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09736" y="4180933"/>
            <a:ext cx="3142718" cy="7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Q1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Spring-2026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88796" y="4180933"/>
            <a:ext cx="3142718" cy="75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Q2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Spring-2026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35940" y="7738842"/>
            <a:ext cx="3063264" cy="133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Literature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patie</a:t>
            </a: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nt setup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NHANES b</a:t>
            </a: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aseline model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weather API prep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815739" y="7738842"/>
            <a:ext cx="3177462" cy="160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Start patient data collection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lifestyle modeling</a:t>
            </a: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refinement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first ROM modul</a:t>
            </a: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176160" y="7738842"/>
            <a:ext cx="3409869" cy="106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Combine weather, lifestyle, and ROM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build first predictive flare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0888" y="7738842"/>
            <a:ext cx="2878534" cy="106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Validate model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finalize app</a:t>
            </a:r>
          </a:p>
          <a:p>
            <a:pPr algn="ctr" marL="388623" indent="-194312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integrate</a:t>
            </a:r>
            <a:r>
              <a:rPr lang="en-US" sz="18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recommendations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222482" y="971550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1244" y="2096099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Work distribution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8779" y="4539108"/>
            <a:ext cx="3993857" cy="4719192"/>
            <a:chOff x="0" y="0"/>
            <a:chExt cx="3551246" cy="4196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1246" cy="4196197"/>
            </a:xfrm>
            <a:custGeom>
              <a:avLst/>
              <a:gdLst/>
              <a:ahLst/>
              <a:cxnLst/>
              <a:rect r="r" b="b" t="t" l="l"/>
              <a:pathLst>
                <a:path h="4196197" w="3551246">
                  <a:moveTo>
                    <a:pt x="3426786" y="59690"/>
                  </a:moveTo>
                  <a:cubicBezTo>
                    <a:pt x="3462346" y="59690"/>
                    <a:pt x="3491556" y="88900"/>
                    <a:pt x="3491556" y="124460"/>
                  </a:cubicBezTo>
                  <a:lnTo>
                    <a:pt x="3491556" y="4071737"/>
                  </a:lnTo>
                  <a:cubicBezTo>
                    <a:pt x="3491556" y="4107297"/>
                    <a:pt x="3462346" y="4136507"/>
                    <a:pt x="3426786" y="4136507"/>
                  </a:cubicBezTo>
                  <a:lnTo>
                    <a:pt x="124460" y="4136507"/>
                  </a:lnTo>
                  <a:cubicBezTo>
                    <a:pt x="88900" y="4136507"/>
                    <a:pt x="59690" y="4107297"/>
                    <a:pt x="59690" y="40717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26786" y="59690"/>
                  </a:lnTo>
                  <a:moveTo>
                    <a:pt x="3426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71737"/>
                  </a:lnTo>
                  <a:cubicBezTo>
                    <a:pt x="0" y="4140317"/>
                    <a:pt x="55880" y="4196197"/>
                    <a:pt x="124460" y="4196197"/>
                  </a:cubicBezTo>
                  <a:lnTo>
                    <a:pt x="3426786" y="4196197"/>
                  </a:lnTo>
                  <a:cubicBezTo>
                    <a:pt x="3495366" y="4196197"/>
                    <a:pt x="3551246" y="4140317"/>
                    <a:pt x="3551246" y="4071737"/>
                  </a:cubicBezTo>
                  <a:lnTo>
                    <a:pt x="3551246" y="124460"/>
                  </a:lnTo>
                  <a:cubicBezTo>
                    <a:pt x="3551246" y="55880"/>
                    <a:pt x="3495366" y="0"/>
                    <a:pt x="342678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2371" y="4678973"/>
            <a:ext cx="3626673" cy="4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Found</a:t>
            </a:r>
            <a:r>
              <a:rPr lang="en-US" b="true" sz="2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ations &amp; Baseline Development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Hamza: </a:t>
            </a: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Dataset setup, Train a baseline RA susceptibility classifier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Umema: </a:t>
            </a: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Lit review, baseline data collection with patients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Heer:</a:t>
            </a: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weather API schema, basic app prototype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4966119" y="4539108"/>
            <a:ext cx="3993857" cy="4719192"/>
            <a:chOff x="0" y="0"/>
            <a:chExt cx="3551246" cy="4196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1246" cy="4196197"/>
            </a:xfrm>
            <a:custGeom>
              <a:avLst/>
              <a:gdLst/>
              <a:ahLst/>
              <a:cxnLst/>
              <a:rect r="r" b="b" t="t" l="l"/>
              <a:pathLst>
                <a:path h="4196197" w="3551246">
                  <a:moveTo>
                    <a:pt x="3426786" y="59690"/>
                  </a:moveTo>
                  <a:cubicBezTo>
                    <a:pt x="3462346" y="59690"/>
                    <a:pt x="3491556" y="88900"/>
                    <a:pt x="3491556" y="124460"/>
                  </a:cubicBezTo>
                  <a:lnTo>
                    <a:pt x="3491556" y="4071737"/>
                  </a:lnTo>
                  <a:cubicBezTo>
                    <a:pt x="3491556" y="4107297"/>
                    <a:pt x="3462346" y="4136507"/>
                    <a:pt x="3426786" y="4136507"/>
                  </a:cubicBezTo>
                  <a:lnTo>
                    <a:pt x="124460" y="4136507"/>
                  </a:lnTo>
                  <a:cubicBezTo>
                    <a:pt x="88900" y="4136507"/>
                    <a:pt x="59690" y="4107297"/>
                    <a:pt x="59690" y="40717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26786" y="59690"/>
                  </a:lnTo>
                  <a:moveTo>
                    <a:pt x="3426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71737"/>
                  </a:lnTo>
                  <a:cubicBezTo>
                    <a:pt x="0" y="4140317"/>
                    <a:pt x="55880" y="4196197"/>
                    <a:pt x="124460" y="4196197"/>
                  </a:cubicBezTo>
                  <a:lnTo>
                    <a:pt x="3426786" y="4196197"/>
                  </a:lnTo>
                  <a:cubicBezTo>
                    <a:pt x="3495366" y="4196197"/>
                    <a:pt x="3551246" y="4140317"/>
                    <a:pt x="3551246" y="4071737"/>
                  </a:cubicBezTo>
                  <a:lnTo>
                    <a:pt x="3551246" y="124460"/>
                  </a:lnTo>
                  <a:cubicBezTo>
                    <a:pt x="3551246" y="55880"/>
                    <a:pt x="3495366" y="0"/>
                    <a:pt x="342678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107958" y="4678973"/>
            <a:ext cx="3742145" cy="377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2"/>
              </a:lnSpc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Collection &amp; </a:t>
            </a: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Modular Development</a:t>
            </a:r>
          </a:p>
          <a:p>
            <a:pPr algn="l" marL="0" indent="0" lvl="0">
              <a:lnSpc>
                <a:spcPts val="2732"/>
              </a:lnSpc>
            </a:pP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Hamza: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improved RA susceptibility model, RAlens module</a:t>
            </a: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Umema: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2–3 weeks of preliminary data, Pilot test ROM accuracy</a:t>
            </a: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Heer: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patient daily symptom logging, dashboard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54928" y="4539108"/>
            <a:ext cx="3993857" cy="4719192"/>
            <a:chOff x="0" y="0"/>
            <a:chExt cx="3286042" cy="38828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86042" cy="3882829"/>
            </a:xfrm>
            <a:custGeom>
              <a:avLst/>
              <a:gdLst/>
              <a:ahLst/>
              <a:cxnLst/>
              <a:rect r="r" b="b" t="t" l="l"/>
              <a:pathLst>
                <a:path h="3882829" w="3286042">
                  <a:moveTo>
                    <a:pt x="3161582" y="59690"/>
                  </a:moveTo>
                  <a:cubicBezTo>
                    <a:pt x="3197142" y="59690"/>
                    <a:pt x="3226352" y="88900"/>
                    <a:pt x="3226352" y="124460"/>
                  </a:cubicBezTo>
                  <a:lnTo>
                    <a:pt x="3226352" y="3758369"/>
                  </a:lnTo>
                  <a:cubicBezTo>
                    <a:pt x="3226352" y="3793929"/>
                    <a:pt x="3197142" y="3823139"/>
                    <a:pt x="3161582" y="3823139"/>
                  </a:cubicBezTo>
                  <a:lnTo>
                    <a:pt x="124460" y="3823139"/>
                  </a:lnTo>
                  <a:cubicBezTo>
                    <a:pt x="88900" y="3823139"/>
                    <a:pt x="59690" y="3793929"/>
                    <a:pt x="59690" y="375836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1582" y="59690"/>
                  </a:lnTo>
                  <a:moveTo>
                    <a:pt x="316158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758369"/>
                  </a:lnTo>
                  <a:cubicBezTo>
                    <a:pt x="0" y="3826949"/>
                    <a:pt x="55880" y="3882829"/>
                    <a:pt x="124460" y="3882829"/>
                  </a:cubicBezTo>
                  <a:lnTo>
                    <a:pt x="3161582" y="3882829"/>
                  </a:lnTo>
                  <a:cubicBezTo>
                    <a:pt x="3230162" y="3882829"/>
                    <a:pt x="3286042" y="3826949"/>
                    <a:pt x="3286042" y="3758369"/>
                  </a:cubicBezTo>
                  <a:lnTo>
                    <a:pt x="3286042" y="124460"/>
                  </a:lnTo>
                  <a:cubicBezTo>
                    <a:pt x="3286042" y="55880"/>
                    <a:pt x="3230162" y="0"/>
                    <a:pt x="3161582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85364" y="4539108"/>
            <a:ext cx="3993857" cy="4719192"/>
            <a:chOff x="0" y="0"/>
            <a:chExt cx="3551246" cy="41961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1246" cy="4196197"/>
            </a:xfrm>
            <a:custGeom>
              <a:avLst/>
              <a:gdLst/>
              <a:ahLst/>
              <a:cxnLst/>
              <a:rect r="r" b="b" t="t" l="l"/>
              <a:pathLst>
                <a:path h="4196197" w="3551246">
                  <a:moveTo>
                    <a:pt x="3426786" y="59690"/>
                  </a:moveTo>
                  <a:cubicBezTo>
                    <a:pt x="3462346" y="59690"/>
                    <a:pt x="3491556" y="88900"/>
                    <a:pt x="3491556" y="124460"/>
                  </a:cubicBezTo>
                  <a:lnTo>
                    <a:pt x="3491556" y="4071737"/>
                  </a:lnTo>
                  <a:cubicBezTo>
                    <a:pt x="3491556" y="4107297"/>
                    <a:pt x="3462346" y="4136507"/>
                    <a:pt x="3426786" y="4136507"/>
                  </a:cubicBezTo>
                  <a:lnTo>
                    <a:pt x="124460" y="4136507"/>
                  </a:lnTo>
                  <a:cubicBezTo>
                    <a:pt x="88900" y="4136507"/>
                    <a:pt x="59690" y="4107297"/>
                    <a:pt x="59690" y="407173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26786" y="59690"/>
                  </a:lnTo>
                  <a:moveTo>
                    <a:pt x="342678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071737"/>
                  </a:lnTo>
                  <a:cubicBezTo>
                    <a:pt x="0" y="4140317"/>
                    <a:pt x="55880" y="4196197"/>
                    <a:pt x="124460" y="4196197"/>
                  </a:cubicBezTo>
                  <a:lnTo>
                    <a:pt x="3426786" y="4196197"/>
                  </a:lnTo>
                  <a:cubicBezTo>
                    <a:pt x="3495366" y="4196197"/>
                    <a:pt x="3551246" y="4140317"/>
                    <a:pt x="3551246" y="4071737"/>
                  </a:cubicBezTo>
                  <a:lnTo>
                    <a:pt x="3551246" y="124460"/>
                  </a:lnTo>
                  <a:cubicBezTo>
                    <a:pt x="3551246" y="55880"/>
                    <a:pt x="3495366" y="0"/>
                    <a:pt x="342678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8779" y="3620099"/>
            <a:ext cx="3993857" cy="773124"/>
            <a:chOff x="0" y="0"/>
            <a:chExt cx="3411676" cy="6604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11676" cy="660426"/>
            </a:xfrm>
            <a:custGeom>
              <a:avLst/>
              <a:gdLst/>
              <a:ahLst/>
              <a:cxnLst/>
              <a:rect r="r" b="b" t="t" l="l"/>
              <a:pathLst>
                <a:path h="660426" w="3411676">
                  <a:moveTo>
                    <a:pt x="3287216" y="660426"/>
                  </a:moveTo>
                  <a:lnTo>
                    <a:pt x="124460" y="660426"/>
                  </a:lnTo>
                  <a:cubicBezTo>
                    <a:pt x="55880" y="660426"/>
                    <a:pt x="0" y="604546"/>
                    <a:pt x="0" y="5359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66"/>
                  </a:lnTo>
                  <a:cubicBezTo>
                    <a:pt x="3411676" y="604546"/>
                    <a:pt x="3355796" y="660426"/>
                    <a:pt x="3287216" y="660426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79851" y="3811383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Qtr 1 Fall 2025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895047" y="3620099"/>
            <a:ext cx="3993857" cy="773124"/>
            <a:chOff x="0" y="0"/>
            <a:chExt cx="3411676" cy="6604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11676" cy="660426"/>
            </a:xfrm>
            <a:custGeom>
              <a:avLst/>
              <a:gdLst/>
              <a:ahLst/>
              <a:cxnLst/>
              <a:rect r="r" b="b" t="t" l="l"/>
              <a:pathLst>
                <a:path h="660426" w="3411676">
                  <a:moveTo>
                    <a:pt x="3287216" y="660426"/>
                  </a:moveTo>
                  <a:lnTo>
                    <a:pt x="124460" y="660426"/>
                  </a:lnTo>
                  <a:cubicBezTo>
                    <a:pt x="55880" y="660426"/>
                    <a:pt x="0" y="604546"/>
                    <a:pt x="0" y="5359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66"/>
                  </a:lnTo>
                  <a:cubicBezTo>
                    <a:pt x="3411676" y="604546"/>
                    <a:pt x="3355796" y="660426"/>
                    <a:pt x="3287216" y="660426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966119" y="3811383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Qtr 2 Fall 2025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54928" y="3620099"/>
            <a:ext cx="3993857" cy="773124"/>
            <a:chOff x="0" y="0"/>
            <a:chExt cx="3411676" cy="6604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1676" cy="660426"/>
            </a:xfrm>
            <a:custGeom>
              <a:avLst/>
              <a:gdLst/>
              <a:ahLst/>
              <a:cxnLst/>
              <a:rect r="r" b="b" t="t" l="l"/>
              <a:pathLst>
                <a:path h="660426" w="3411676">
                  <a:moveTo>
                    <a:pt x="3287216" y="660426"/>
                  </a:moveTo>
                  <a:lnTo>
                    <a:pt x="124460" y="660426"/>
                  </a:lnTo>
                  <a:cubicBezTo>
                    <a:pt x="55880" y="660426"/>
                    <a:pt x="0" y="604546"/>
                    <a:pt x="0" y="5359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66"/>
                  </a:lnTo>
                  <a:cubicBezTo>
                    <a:pt x="3411676" y="604546"/>
                    <a:pt x="3355796" y="660426"/>
                    <a:pt x="3287216" y="660426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26000" y="3811383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Qtr 3 Spring 2026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85364" y="3620099"/>
            <a:ext cx="3993857" cy="773124"/>
            <a:chOff x="0" y="0"/>
            <a:chExt cx="3411676" cy="6604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1676" cy="660426"/>
            </a:xfrm>
            <a:custGeom>
              <a:avLst/>
              <a:gdLst/>
              <a:ahLst/>
              <a:cxnLst/>
              <a:rect r="r" b="b" t="t" l="l"/>
              <a:pathLst>
                <a:path h="660426" w="3411676">
                  <a:moveTo>
                    <a:pt x="3287216" y="660426"/>
                  </a:moveTo>
                  <a:lnTo>
                    <a:pt x="124460" y="660426"/>
                  </a:lnTo>
                  <a:cubicBezTo>
                    <a:pt x="55880" y="660426"/>
                    <a:pt x="0" y="604546"/>
                    <a:pt x="0" y="5359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66"/>
                  </a:lnTo>
                  <a:cubicBezTo>
                    <a:pt x="3411676" y="604546"/>
                    <a:pt x="3355796" y="660426"/>
                    <a:pt x="3287216" y="660426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856436" y="3811383"/>
            <a:ext cx="38517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Qtr 4 Spring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80784" y="4678973"/>
            <a:ext cx="3742145" cy="412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2"/>
              </a:lnSpc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</a:t>
            </a: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tegration &amp; F</a:t>
            </a: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lare Prediction Prototype</a:t>
            </a:r>
          </a:p>
          <a:p>
            <a:pPr algn="l" marL="0" indent="0" lvl="0">
              <a:lnSpc>
                <a:spcPts val="2732"/>
              </a:lnSpc>
            </a:pP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Hamza: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Expand ROM, integrate modules for app prototype v2</a:t>
            </a: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Umema: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Combine lifestyle, weather, and ROM features into first integrated predictive model</a:t>
            </a: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Heer: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weather-only flare prediction module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11220" y="4678973"/>
            <a:ext cx="3742145" cy="37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32"/>
              </a:lnSpc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Fin</a:t>
            </a: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al Validation &amp; Sm</a:t>
            </a: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art Recommendation App </a:t>
            </a:r>
          </a:p>
          <a:p>
            <a:pPr algn="l" marL="0" indent="0" lvl="0">
              <a:lnSpc>
                <a:spcPts val="2732"/>
              </a:lnSpc>
            </a:pP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Hamza: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statistical evaluation, research report</a:t>
            </a: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Umema: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Finalize flare prediction model, deploy as exportable ML service</a:t>
            </a:r>
          </a:p>
          <a:p>
            <a:pPr algn="l" marL="421429" indent="-210715" lvl="1">
              <a:lnSpc>
                <a:spcPts val="2732"/>
              </a:lnSpc>
              <a:buFont typeface="Arial"/>
              <a:buChar char="•"/>
            </a:pPr>
            <a:r>
              <a:rPr lang="en-US" b="true" sz="195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Heer:</a:t>
            </a: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Add personalized recommendations, pilot usability testing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32768"/>
            <a:ext cx="16230600" cy="12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99637"/>
            <a:ext cx="16230600" cy="604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Amprimo, C., et al. (2023). Computer vision for objective joint assessment in rheumatic diseases. Journal of Clinical Rheumatology, 29(4), 195-201.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Dixon, WG., et al. (2019). The role of weather in rheumatoid arthritis symptoms: A systematic review. Arthritis Care &amp; Research, 71(10), 1301-1310.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Dixon, WG., et al. (2021). Environmental triggers and electronic health record integration for RA research. Annals of the Rheumatic Diseases, 80(6), 720-726.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Gandrup, J., et al. (2024). Predicting RA flares using patient-reported outcomes and machine learning. Rheumatology International, 44(2), 245-253.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Kalweit, D., et al. (2021). Machine learning approaches for predicting disease activity in rheumatoid arthritis. Arthritis &amp; Rheumatology, 73(9), 1603-1612.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Norgeot, B., et al. (2021). Artificial intelligence and machine learning in rheumatology: A scoping review. Current Rheumatology Reports, 23(1), 5.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Vodencarevic, A., et al. (2021). Mobile health applications for rheumatoid arthritis self-management: A systematic review. Journal of Medical Internet Research, 23(7), e26207.</a:t>
            </a:r>
          </a:p>
          <a:p>
            <a:pPr algn="just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Wang, Y., et al. (2023). Deep learning-based joint pose estimation for musculoskeletal analysis. IEEE Transactions on Medical Imaging, 42(5), 1432-1442.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6871" y="2712138"/>
            <a:ext cx="17054257" cy="150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78"/>
              </a:lnSpc>
            </a:pPr>
            <a:r>
              <a:rPr lang="en-US" b="true" sz="9981" i="true" spc="-489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Team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6871" y="4498473"/>
            <a:ext cx="17054257" cy="36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</a:pPr>
            <a:r>
              <a:rPr lang="en-US" sz="346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Umema Ashar 22i-2036</a:t>
            </a:r>
          </a:p>
          <a:p>
            <a:pPr algn="ctr">
              <a:lnSpc>
                <a:spcPts val="4854"/>
              </a:lnSpc>
            </a:pPr>
            <a:r>
              <a:rPr lang="en-US" sz="346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Hamza Asad    22i-1908</a:t>
            </a:r>
          </a:p>
          <a:p>
            <a:pPr algn="ctr">
              <a:lnSpc>
                <a:spcPts val="4854"/>
              </a:lnSpc>
            </a:pPr>
            <a:r>
              <a:rPr lang="en-US" sz="346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Heer                    22i-2371</a:t>
            </a:r>
          </a:p>
          <a:p>
            <a:pPr algn="ctr">
              <a:lnSpc>
                <a:spcPts val="4854"/>
              </a:lnSpc>
            </a:pPr>
          </a:p>
          <a:p>
            <a:pPr algn="ctr">
              <a:lnSpc>
                <a:spcPts val="4854"/>
              </a:lnSpc>
            </a:pPr>
            <a:r>
              <a:rPr lang="en-US" b="true" sz="3467" i="true">
                <a:solidFill>
                  <a:srgbClr val="333333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Supervisor:</a:t>
            </a:r>
          </a:p>
          <a:p>
            <a:pPr algn="ctr">
              <a:lnSpc>
                <a:spcPts val="4714"/>
              </a:lnSpc>
            </a:pPr>
            <a:r>
              <a:rPr lang="en-US" sz="336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Dr. Faisal Cheema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222482" y="971550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539189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5542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09257" y="3630126"/>
            <a:ext cx="7600556" cy="4740418"/>
            <a:chOff x="0" y="0"/>
            <a:chExt cx="6328213" cy="3946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8213" cy="3946866"/>
            </a:xfrm>
            <a:custGeom>
              <a:avLst/>
              <a:gdLst/>
              <a:ahLst/>
              <a:cxnLst/>
              <a:rect r="r" b="b" t="t" l="l"/>
              <a:pathLst>
                <a:path h="3946866" w="6328213">
                  <a:moveTo>
                    <a:pt x="6203753" y="59690"/>
                  </a:moveTo>
                  <a:cubicBezTo>
                    <a:pt x="6239313" y="59690"/>
                    <a:pt x="6268523" y="88900"/>
                    <a:pt x="6268523" y="124460"/>
                  </a:cubicBezTo>
                  <a:lnTo>
                    <a:pt x="6268523" y="3822406"/>
                  </a:lnTo>
                  <a:cubicBezTo>
                    <a:pt x="6268523" y="3857966"/>
                    <a:pt x="6239313" y="3887176"/>
                    <a:pt x="6203753" y="3887176"/>
                  </a:cubicBezTo>
                  <a:lnTo>
                    <a:pt x="124460" y="3887176"/>
                  </a:lnTo>
                  <a:cubicBezTo>
                    <a:pt x="88900" y="3887176"/>
                    <a:pt x="59690" y="3857966"/>
                    <a:pt x="59690" y="382240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03753" y="59690"/>
                  </a:lnTo>
                  <a:moveTo>
                    <a:pt x="620375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822406"/>
                  </a:lnTo>
                  <a:cubicBezTo>
                    <a:pt x="0" y="3890986"/>
                    <a:pt x="55880" y="3946866"/>
                    <a:pt x="124460" y="3946866"/>
                  </a:cubicBezTo>
                  <a:lnTo>
                    <a:pt x="6203753" y="3946866"/>
                  </a:lnTo>
                  <a:cubicBezTo>
                    <a:pt x="6272333" y="3946866"/>
                    <a:pt x="6328213" y="3890986"/>
                    <a:pt x="6328213" y="3822406"/>
                  </a:cubicBezTo>
                  <a:lnTo>
                    <a:pt x="6328213" y="124460"/>
                  </a:lnTo>
                  <a:cubicBezTo>
                    <a:pt x="6328213" y="55880"/>
                    <a:pt x="6272333" y="0"/>
                    <a:pt x="620375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98960" y="3057057"/>
            <a:ext cx="7421149" cy="51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2"/>
              </a:lnSpc>
            </a:pPr>
            <a:r>
              <a:rPr lang="en-US" b="true" sz="33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NHANES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9032" y="3122445"/>
            <a:ext cx="46519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3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Scope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408430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1281973" y="3888256"/>
          <a:ext cx="16441957" cy="5596309"/>
        </p:xfrm>
        <a:graphic>
          <a:graphicData uri="http://schemas.openxmlformats.org/presentationml/2006/ole">
            <p:oleObj imgW="19723100" imgH="88773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9514723" y="3057057"/>
            <a:ext cx="7421149" cy="51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2"/>
              </a:lnSpc>
            </a:pPr>
            <a:r>
              <a:rPr lang="en-US" b="true" sz="33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Scope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56552" y="3630126"/>
            <a:ext cx="7737491" cy="5981499"/>
            <a:chOff x="0" y="0"/>
            <a:chExt cx="6328213" cy="4892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28213" cy="4892051"/>
            </a:xfrm>
            <a:custGeom>
              <a:avLst/>
              <a:gdLst/>
              <a:ahLst/>
              <a:cxnLst/>
              <a:rect r="r" b="b" t="t" l="l"/>
              <a:pathLst>
                <a:path h="4892051" w="6328213">
                  <a:moveTo>
                    <a:pt x="6203753" y="59690"/>
                  </a:moveTo>
                  <a:cubicBezTo>
                    <a:pt x="6239313" y="59690"/>
                    <a:pt x="6268523" y="88900"/>
                    <a:pt x="6268523" y="124460"/>
                  </a:cubicBezTo>
                  <a:lnTo>
                    <a:pt x="6268523" y="4767591"/>
                  </a:lnTo>
                  <a:cubicBezTo>
                    <a:pt x="6268523" y="4803151"/>
                    <a:pt x="6239313" y="4832361"/>
                    <a:pt x="6203753" y="4832361"/>
                  </a:cubicBezTo>
                  <a:lnTo>
                    <a:pt x="124460" y="4832361"/>
                  </a:lnTo>
                  <a:cubicBezTo>
                    <a:pt x="88900" y="4832361"/>
                    <a:pt x="59690" y="4803151"/>
                    <a:pt x="59690" y="476759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03753" y="59690"/>
                  </a:lnTo>
                  <a:moveTo>
                    <a:pt x="620375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767591"/>
                  </a:lnTo>
                  <a:cubicBezTo>
                    <a:pt x="0" y="4836171"/>
                    <a:pt x="55880" y="4892051"/>
                    <a:pt x="124460" y="4892051"/>
                  </a:cubicBezTo>
                  <a:lnTo>
                    <a:pt x="6203753" y="4892051"/>
                  </a:lnTo>
                  <a:cubicBezTo>
                    <a:pt x="6272333" y="4892051"/>
                    <a:pt x="6328213" y="4836171"/>
                    <a:pt x="6328213" y="4767591"/>
                  </a:cubicBezTo>
                  <a:lnTo>
                    <a:pt x="6328213" y="124460"/>
                  </a:lnTo>
                  <a:cubicBezTo>
                    <a:pt x="6328213" y="55880"/>
                    <a:pt x="6272333" y="0"/>
                    <a:pt x="620375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259300" y="92623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79653" y="1587461"/>
            <a:ext cx="12328693" cy="111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b="true" sz="7400" i="true" spc="-362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Appendix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2482" y="840791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32998" y="3878731"/>
            <a:ext cx="7184599" cy="501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  <a:spcBef>
                <a:spcPct val="0"/>
              </a:spcBef>
            </a:pPr>
          </a:p>
          <a:p>
            <a:pPr algn="l">
              <a:lnSpc>
                <a:spcPts val="2101"/>
              </a:lnSpc>
              <a:spcBef>
                <a:spcPct val="0"/>
              </a:spcBef>
            </a:pPr>
            <a:r>
              <a:rPr lang="en-US" b="true" sz="175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Aim</a:t>
            </a:r>
            <a:r>
              <a:rPr lang="en-US" sz="175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Predict RA flare-ups using Weather + Lifestyle/Demographics + Range of Motion (RAlens) → deliver via a mobile app with personalized diet/exercise suggestions.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Study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~50 RA patients, daily flare logging (several weeks), recruited via physiotherapy institute.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Components: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Weather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Validate “Cloudy with a Chance of Pain” (temp, humidity, rainfall, pressure → predictive models).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Lifestyle/Demographics: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Pretrain on NHANES, fine-tune on Pakistani cohort (BMI, diet, comorbidities). variables: demographics, socioeconomic, BMI, physical activity, diet factors, 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ROM (RAlens):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Smartphone-based joint tracking (shoulder, elbow, wrist, hip, knee → early flare signals).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Integrated Model: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Combine all 3 → predict flares 48–72h ahead.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b="true" sz="16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Deliverable: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app prototype with risk prediction + expert-curated recommendations.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5542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09257" y="3630126"/>
            <a:ext cx="7600556" cy="2046554"/>
            <a:chOff x="0" y="0"/>
            <a:chExt cx="6328213" cy="17039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8213" cy="1703958"/>
            </a:xfrm>
            <a:custGeom>
              <a:avLst/>
              <a:gdLst/>
              <a:ahLst/>
              <a:cxnLst/>
              <a:rect r="r" b="b" t="t" l="l"/>
              <a:pathLst>
                <a:path h="1703958" w="6328213">
                  <a:moveTo>
                    <a:pt x="6203753" y="59690"/>
                  </a:moveTo>
                  <a:cubicBezTo>
                    <a:pt x="6239313" y="59690"/>
                    <a:pt x="6268523" y="88900"/>
                    <a:pt x="6268523" y="124460"/>
                  </a:cubicBezTo>
                  <a:lnTo>
                    <a:pt x="6268523" y="1579498"/>
                  </a:lnTo>
                  <a:cubicBezTo>
                    <a:pt x="6268523" y="1615058"/>
                    <a:pt x="6239313" y="1644268"/>
                    <a:pt x="6203753" y="1644268"/>
                  </a:cubicBezTo>
                  <a:lnTo>
                    <a:pt x="124460" y="1644268"/>
                  </a:lnTo>
                  <a:cubicBezTo>
                    <a:pt x="88900" y="1644268"/>
                    <a:pt x="59690" y="1615058"/>
                    <a:pt x="59690" y="157949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03753" y="59690"/>
                  </a:lnTo>
                  <a:moveTo>
                    <a:pt x="620375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79498"/>
                  </a:lnTo>
                  <a:cubicBezTo>
                    <a:pt x="0" y="1648078"/>
                    <a:pt x="55880" y="1703958"/>
                    <a:pt x="124460" y="1703958"/>
                  </a:cubicBezTo>
                  <a:lnTo>
                    <a:pt x="6203753" y="1703958"/>
                  </a:lnTo>
                  <a:cubicBezTo>
                    <a:pt x="6272333" y="1703958"/>
                    <a:pt x="6328213" y="1648078"/>
                    <a:pt x="6328213" y="1579498"/>
                  </a:cubicBezTo>
                  <a:lnTo>
                    <a:pt x="6328213" y="124460"/>
                  </a:lnTo>
                  <a:cubicBezTo>
                    <a:pt x="6328213" y="55880"/>
                    <a:pt x="6272333" y="0"/>
                    <a:pt x="620375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98960" y="3057057"/>
            <a:ext cx="7421149" cy="51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2"/>
              </a:lnSpc>
            </a:pPr>
            <a:r>
              <a:rPr lang="en-US" b="true" sz="33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is GIMES giving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9032" y="3122445"/>
            <a:ext cx="46519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3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Scope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408430"/>
            <a:ext cx="4079258" cy="979022"/>
          </a:xfrm>
          <a:custGeom>
            <a:avLst/>
            <a:gdLst/>
            <a:ahLst/>
            <a:cxnLst/>
            <a:rect r="r" b="b" t="t" l="l"/>
            <a:pathLst>
              <a:path h="979022" w="4079258">
                <a:moveTo>
                  <a:pt x="0" y="0"/>
                </a:moveTo>
                <a:lnTo>
                  <a:pt x="4079258" y="0"/>
                </a:lnTo>
                <a:lnTo>
                  <a:pt x="4079258" y="979022"/>
                </a:lnTo>
                <a:lnTo>
                  <a:pt x="0" y="9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14723" y="3057057"/>
            <a:ext cx="7421149" cy="51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2"/>
              </a:lnSpc>
            </a:pPr>
            <a:r>
              <a:rPr lang="en-US" b="true" sz="33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NHANE</a:t>
            </a:r>
            <a:r>
              <a:rPr lang="en-US" b="true" sz="33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 is from the US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56552" y="3630126"/>
            <a:ext cx="7737491" cy="1248776"/>
            <a:chOff x="0" y="0"/>
            <a:chExt cx="6328213" cy="10213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28213" cy="1021329"/>
            </a:xfrm>
            <a:custGeom>
              <a:avLst/>
              <a:gdLst/>
              <a:ahLst/>
              <a:cxnLst/>
              <a:rect r="r" b="b" t="t" l="l"/>
              <a:pathLst>
                <a:path h="1021329" w="6328213">
                  <a:moveTo>
                    <a:pt x="6203753" y="59690"/>
                  </a:moveTo>
                  <a:cubicBezTo>
                    <a:pt x="6239313" y="59690"/>
                    <a:pt x="6268523" y="88900"/>
                    <a:pt x="6268523" y="124460"/>
                  </a:cubicBezTo>
                  <a:lnTo>
                    <a:pt x="6268523" y="896869"/>
                  </a:lnTo>
                  <a:cubicBezTo>
                    <a:pt x="6268523" y="932429"/>
                    <a:pt x="6239313" y="961638"/>
                    <a:pt x="6203753" y="961638"/>
                  </a:cubicBezTo>
                  <a:lnTo>
                    <a:pt x="124460" y="961638"/>
                  </a:lnTo>
                  <a:cubicBezTo>
                    <a:pt x="88900" y="961638"/>
                    <a:pt x="59690" y="932429"/>
                    <a:pt x="59690" y="89686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03753" y="59690"/>
                  </a:lnTo>
                  <a:moveTo>
                    <a:pt x="620375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896869"/>
                  </a:lnTo>
                  <a:cubicBezTo>
                    <a:pt x="0" y="965449"/>
                    <a:pt x="55880" y="1021329"/>
                    <a:pt x="124460" y="1021329"/>
                  </a:cubicBezTo>
                  <a:lnTo>
                    <a:pt x="6203753" y="1021329"/>
                  </a:lnTo>
                  <a:cubicBezTo>
                    <a:pt x="6272333" y="1021329"/>
                    <a:pt x="6328213" y="965449"/>
                    <a:pt x="6328213" y="896869"/>
                  </a:cubicBezTo>
                  <a:lnTo>
                    <a:pt x="6328213" y="124460"/>
                  </a:lnTo>
                  <a:cubicBezTo>
                    <a:pt x="6328213" y="55880"/>
                    <a:pt x="6272333" y="0"/>
                    <a:pt x="620375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259300" y="92623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9653" y="1587461"/>
            <a:ext cx="12328693" cy="111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b="true" sz="7400" i="true" spc="-362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Appendix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22482" y="840791"/>
            <a:ext cx="5036818" cy="43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ARTHOCARE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2998" y="3878731"/>
            <a:ext cx="7184599" cy="100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NH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NES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is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retrainin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dataset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—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it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earn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eneral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terns o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lifestyle and demographics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B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 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efore d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y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ing, we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’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fine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-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un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 on 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cal p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tient dat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17235" y="3895667"/>
            <a:ext cx="7184599" cy="17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  <a:spcBef>
                <a:spcPct val="0"/>
              </a:spcBef>
            </a:pP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GIMES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es us </a:t>
            </a:r>
            <a:r>
              <a:rPr lang="en-US" sz="1956" i="tru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real-world patient data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(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logs + 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+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demo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aph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ic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)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 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tion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.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NH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NES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is for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retrainin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g, w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eather i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x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ternal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(API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bu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 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GIM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ES is 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 core gro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d-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</a:t>
            </a:r>
            <a:r>
              <a:rPr lang="en-US" b="true" sz="195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that ac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ly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odel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ic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all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y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credible.</a:t>
            </a:r>
          </a:p>
          <a:p>
            <a:pPr algn="l">
              <a:lnSpc>
                <a:spcPts val="2347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335475"/>
            <a:ext cx="7600556" cy="3522794"/>
            <a:chOff x="0" y="0"/>
            <a:chExt cx="6328213" cy="2933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28213" cy="2933074"/>
            </a:xfrm>
            <a:custGeom>
              <a:avLst/>
              <a:gdLst/>
              <a:ahLst/>
              <a:cxnLst/>
              <a:rect r="r" b="b" t="t" l="l"/>
              <a:pathLst>
                <a:path h="2933074" w="6328213">
                  <a:moveTo>
                    <a:pt x="6203753" y="59690"/>
                  </a:moveTo>
                  <a:cubicBezTo>
                    <a:pt x="6239313" y="59690"/>
                    <a:pt x="6268523" y="88900"/>
                    <a:pt x="6268523" y="124460"/>
                  </a:cubicBezTo>
                  <a:lnTo>
                    <a:pt x="6268523" y="2808614"/>
                  </a:lnTo>
                  <a:cubicBezTo>
                    <a:pt x="6268523" y="2844174"/>
                    <a:pt x="6239313" y="2873384"/>
                    <a:pt x="6203753" y="2873384"/>
                  </a:cubicBezTo>
                  <a:lnTo>
                    <a:pt x="124460" y="2873384"/>
                  </a:lnTo>
                  <a:cubicBezTo>
                    <a:pt x="88900" y="2873384"/>
                    <a:pt x="59690" y="2844174"/>
                    <a:pt x="59690" y="280861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03753" y="59690"/>
                  </a:lnTo>
                  <a:moveTo>
                    <a:pt x="620375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808614"/>
                  </a:lnTo>
                  <a:cubicBezTo>
                    <a:pt x="0" y="2877194"/>
                    <a:pt x="55880" y="2933074"/>
                    <a:pt x="124460" y="2933074"/>
                  </a:cubicBezTo>
                  <a:lnTo>
                    <a:pt x="6203753" y="2933074"/>
                  </a:lnTo>
                  <a:cubicBezTo>
                    <a:pt x="6272333" y="2933074"/>
                    <a:pt x="6328213" y="2877194"/>
                    <a:pt x="6328213" y="2808614"/>
                  </a:cubicBezTo>
                  <a:lnTo>
                    <a:pt x="6328213" y="124460"/>
                  </a:lnTo>
                  <a:cubicBezTo>
                    <a:pt x="6328213" y="55880"/>
                    <a:pt x="6272333" y="0"/>
                    <a:pt x="620375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8404" y="5762405"/>
            <a:ext cx="7421149" cy="51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2"/>
              </a:lnSpc>
            </a:pPr>
            <a:r>
              <a:rPr lang="en-US" b="true" sz="33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Weather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6678" y="6601016"/>
            <a:ext cx="7184599" cy="325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328" indent="-211164" lvl="1">
              <a:lnSpc>
                <a:spcPts val="2347"/>
              </a:lnSpc>
              <a:spcBef>
                <a:spcPct val="0"/>
              </a:spcBef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Patient Logs (GiMES):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symptom dia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 f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om RA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patient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s,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uring pain, stiffness, fat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igue,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 flar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att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ns wrt time</a:t>
            </a:r>
          </a:p>
          <a:p>
            <a:pPr algn="l" marL="422328" indent="-211164" lvl="1">
              <a:lnSpc>
                <a:spcPts val="2347"/>
              </a:lnSpc>
              <a:spcBef>
                <a:spcPct val="0"/>
              </a:spcBef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Wea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her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Ex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al APIs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rovidin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 daily w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eather variable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(temperature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h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umidi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ty,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e,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.).</a:t>
            </a:r>
          </a:p>
          <a:p>
            <a:pPr algn="l" marL="422328" indent="-211164" lvl="1">
              <a:lnSpc>
                <a:spcPts val="2347"/>
              </a:lnSpc>
              <a:spcBef>
                <a:spcPct val="0"/>
              </a:spcBef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Devel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pment: G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ided by fi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ings f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om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“Clou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y with a Chance of Pain” s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udy to establish weather–symptom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associa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tions.</a:t>
            </a:r>
          </a:p>
          <a:p>
            <a:pPr algn="l" marL="422328" indent="-211164" lvl="1">
              <a:lnSpc>
                <a:spcPts val="2347"/>
              </a:lnSpc>
              <a:spcBef>
                <a:spcPct val="0"/>
              </a:spcBef>
              <a:buFont typeface="Arial"/>
              <a:buChar char="•"/>
            </a:pP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Validation: Trained 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19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odels tested and validated against GiMES patient data.</a:t>
            </a:r>
          </a:p>
          <a:p>
            <a:pPr algn="l">
              <a:lnSpc>
                <a:spcPts val="2347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778718" y="5153841"/>
            <a:ext cx="46519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3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Scope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54409" y="5097977"/>
            <a:ext cx="7421149" cy="43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b="true" sz="28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</a:t>
            </a:r>
            <a:r>
              <a:rPr lang="en-US" b="true" sz="28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ow We’</a:t>
            </a:r>
            <a:r>
              <a:rPr lang="en-US" b="true" sz="2843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 Predicting Joint Swelling &amp; Pain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96238" y="5661522"/>
            <a:ext cx="7737491" cy="3799312"/>
            <a:chOff x="0" y="0"/>
            <a:chExt cx="6328213" cy="3107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28213" cy="3107320"/>
            </a:xfrm>
            <a:custGeom>
              <a:avLst/>
              <a:gdLst/>
              <a:ahLst/>
              <a:cxnLst/>
              <a:rect r="r" b="b" t="t" l="l"/>
              <a:pathLst>
                <a:path h="3107320" w="6328213">
                  <a:moveTo>
                    <a:pt x="6203753" y="59690"/>
                  </a:moveTo>
                  <a:cubicBezTo>
                    <a:pt x="6239313" y="59690"/>
                    <a:pt x="6268523" y="88900"/>
                    <a:pt x="6268523" y="124460"/>
                  </a:cubicBezTo>
                  <a:lnTo>
                    <a:pt x="6268523" y="2982860"/>
                  </a:lnTo>
                  <a:cubicBezTo>
                    <a:pt x="6268523" y="3018420"/>
                    <a:pt x="6239313" y="3047629"/>
                    <a:pt x="6203753" y="3047629"/>
                  </a:cubicBezTo>
                  <a:lnTo>
                    <a:pt x="124460" y="3047629"/>
                  </a:lnTo>
                  <a:cubicBezTo>
                    <a:pt x="88900" y="3047629"/>
                    <a:pt x="59690" y="3018420"/>
                    <a:pt x="59690" y="298286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03753" y="59690"/>
                  </a:lnTo>
                  <a:moveTo>
                    <a:pt x="620375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982860"/>
                  </a:lnTo>
                  <a:cubicBezTo>
                    <a:pt x="0" y="3051440"/>
                    <a:pt x="55880" y="3107320"/>
                    <a:pt x="124460" y="3107320"/>
                  </a:cubicBezTo>
                  <a:lnTo>
                    <a:pt x="6203753" y="3107320"/>
                  </a:lnTo>
                  <a:cubicBezTo>
                    <a:pt x="6272333" y="3107320"/>
                    <a:pt x="6328213" y="3051440"/>
                    <a:pt x="6328213" y="2982860"/>
                  </a:cubicBezTo>
                  <a:lnTo>
                    <a:pt x="6328213" y="124460"/>
                  </a:lnTo>
                  <a:cubicBezTo>
                    <a:pt x="6328213" y="55880"/>
                    <a:pt x="6272333" y="0"/>
                    <a:pt x="620375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72684" y="5910127"/>
            <a:ext cx="7184599" cy="347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560" indent="-178780" lvl="1">
              <a:lnSpc>
                <a:spcPts val="1987"/>
              </a:lnSpc>
              <a:spcBef>
                <a:spcPct val="0"/>
              </a:spcBef>
              <a:buAutoNum type="arabicPeriod" startAt="1"/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Range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of Motion (RAlens – CV m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od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ule): 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Swellin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→ reduced mobility → abnormal ROM.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Example: If the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knee is swollen, flexion/extension angles wi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ll d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eviate significantly from normal benchmarks.</a:t>
            </a:r>
          </a:p>
          <a:p>
            <a:pPr algn="l" marL="357560" indent="-178780" lvl="1">
              <a:lnSpc>
                <a:spcPts val="1987"/>
              </a:lnSpc>
              <a:spcBef>
                <a:spcPct val="0"/>
              </a:spcBef>
              <a:buAutoNum type="arabicPeriod" startAt="1"/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Daily Sym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ptom Logging (P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tien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t-Reported Outcomes)</a:t>
            </a:r>
          </a:p>
          <a:p>
            <a:pPr algn="l" marL="715119" indent="-238373" lvl="2">
              <a:lnSpc>
                <a:spcPts val="1987"/>
              </a:lnSpc>
              <a:spcBef>
                <a:spcPct val="0"/>
              </a:spcBef>
              <a:buFont typeface="Arial"/>
              <a:buChar char="⚬"/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Patients log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pain/st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iffness/fatigue in a simple scale (0–10).</a:t>
            </a:r>
          </a:p>
          <a:p>
            <a:pPr algn="l" marL="715119" indent="-238373" lvl="2">
              <a:lnSpc>
                <a:spcPts val="1987"/>
              </a:lnSpc>
              <a:spcBef>
                <a:spcPct val="0"/>
              </a:spcBef>
              <a:buFont typeface="Arial"/>
              <a:buChar char="⚬"/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This provides ground truth labels for flare episodes (swelling/pain events).</a:t>
            </a:r>
          </a:p>
          <a:p>
            <a:pPr algn="l" marL="357560" indent="-178780" lvl="1">
              <a:lnSpc>
                <a:spcPts val="1987"/>
              </a:lnSpc>
              <a:spcBef>
                <a:spcPct val="0"/>
              </a:spcBef>
              <a:buAutoNum type="arabicPeriod" startAt="1"/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Weather &amp; Environmental Triggers: High h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umidi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ty, pressure drops, t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emperature shifts are kn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own to cause joint pain (a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lso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mentioned in the clo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udy with a chanc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 of pain paper)</a:t>
            </a:r>
          </a:p>
          <a:p>
            <a:pPr algn="l" marL="357560" indent="-178780" lvl="1">
              <a:lnSpc>
                <a:spcPts val="1987"/>
              </a:lnSpc>
              <a:spcBef>
                <a:spcPct val="0"/>
              </a:spcBef>
              <a:buAutoNum type="arabicPeriod" startAt="1"/>
            </a:pP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Lifestyle &amp; C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omorbidities: BMI, smoking, physi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cal inactivity, diabetes, hypertension, etc. → make p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tients more prone to fl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are-ups</a:t>
            </a:r>
            <a:r>
              <a:rPr lang="en-US" sz="165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>
              <a:lnSpc>
                <a:spcPts val="19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DAGwoJXyAYQ</dc:identifier>
  <dcterms:modified xsi:type="dcterms:W3CDTF">2011-08-01T06:04:30Z</dcterms:modified>
  <cp:revision>1</cp:revision>
  <dc:title>White Minimalist Business Chart Presentation</dc:title>
</cp:coreProperties>
</file>